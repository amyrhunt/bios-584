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7"/>
  </p:notesMasterIdLst>
  <p:sldIdLst>
    <p:sldId id="256" r:id="rId6"/>
  </p:sldIdLst>
  <p:sldSz cx="9753600" cy="7315200"/>
  <p:notesSz cx="6858000" cy="9144000"/>
  <p:embeddedFontLst>
    <p:embeddedFont>
      <p:font typeface="Arimo" charset="1" panose="020B0604020202020204"/>
      <p:regular r:id="rId10"/>
    </p:embeddedFont>
    <p:embeddedFont>
      <p:font typeface="Arial Bold" charset="1" panose="020B0704020202020204"/>
      <p:regular r:id="rId11"/>
    </p:embeddedFont>
    <p:embeddedFont>
      <p:font typeface="Arial" charset="1" panose="020B0604020202020204"/>
      <p:regular r:id="rId12"/>
    </p:embeddedFont>
    <p:embeddedFont>
      <p:font typeface="Montserrat Bold" charset="1" panose="00000800000000000000"/>
      <p:regular r:id="rId13"/>
    </p:embeddedFont>
    <p:embeddedFont>
      <p:font typeface="Calibri (MS) Bold" charset="1" panose="020F0702030404030204"/>
      <p:regular r:id="rId14"/>
    </p:embeddedFont>
    <p:embeddedFont>
      <p:font typeface="Arial Bold Italics" charset="1" panose="020B0704020202090204"/>
      <p:regular r:id="rId15"/>
    </p:embeddedFont>
    <p:embeddedFont>
      <p:font typeface="Eczar" charset="1" panose="02000603040300000004"/>
      <p:regular r:id="rId16"/>
    </p:embeddedFont>
    <p:embeddedFont>
      <p:font typeface="Montserrat Italics" charset="1" panose="000005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notesMasters/notesMaster1.xml" Type="http://schemas.openxmlformats.org/officeDocument/2006/relationships/notesMaster"/><Relationship Id="rId8" Target="theme/theme2.xml" Type="http://schemas.openxmlformats.org/officeDocument/2006/relationships/theme"/><Relationship Id="rId9" Target="notesSlides/notesSlide1.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12169"/>
        </a:solidFill>
      </p:bgPr>
    </p:bg>
    <p:spTree>
      <p:nvGrpSpPr>
        <p:cNvPr id="1" name=""/>
        <p:cNvGrpSpPr/>
        <p:nvPr/>
      </p:nvGrpSpPr>
      <p:grpSpPr>
        <a:xfrm>
          <a:off x="0" y="0"/>
          <a:ext cx="0" cy="0"/>
          <a:chOff x="0" y="0"/>
          <a:chExt cx="0" cy="0"/>
        </a:xfrm>
      </p:grpSpPr>
      <p:sp>
        <p:nvSpPr>
          <p:cNvPr name="TextBox 2" id="2"/>
          <p:cNvSpPr txBox="true"/>
          <p:nvPr/>
        </p:nvSpPr>
        <p:spPr>
          <a:xfrm rot="0">
            <a:off x="2871216" y="900526"/>
            <a:ext cx="4011168" cy="371475"/>
          </a:xfrm>
          <a:prstGeom prst="rect">
            <a:avLst/>
          </a:prstGeom>
        </p:spPr>
        <p:txBody>
          <a:bodyPr anchor="t" rtlCol="false" tIns="0" lIns="0" bIns="0" rIns="0">
            <a:spAutoFit/>
          </a:bodyPr>
          <a:lstStyle/>
          <a:p>
            <a:pPr algn="ctr">
              <a:lnSpc>
                <a:spcPts val="1493"/>
              </a:lnSpc>
            </a:pPr>
            <a:r>
              <a:rPr lang="en-US" sz="1244">
                <a:solidFill>
                  <a:srgbClr val="FFFFFF"/>
                </a:solidFill>
                <a:latin typeface="Arimo"/>
                <a:ea typeface="Arimo"/>
                <a:cs typeface="Arimo"/>
                <a:sym typeface="Arimo"/>
              </a:rPr>
              <a:t>Amy Hunt &amp; Victoria Ostebo</a:t>
            </a:r>
          </a:p>
          <a:p>
            <a:pPr algn="ctr">
              <a:lnSpc>
                <a:spcPts val="1493"/>
              </a:lnSpc>
            </a:pPr>
            <a:r>
              <a:rPr lang="en-US" sz="1244">
                <a:solidFill>
                  <a:srgbClr val="FFFFFF"/>
                </a:solidFill>
                <a:latin typeface="Arimo"/>
                <a:ea typeface="Arimo"/>
                <a:cs typeface="Arimo"/>
                <a:sym typeface="Arimo"/>
              </a:rPr>
              <a:t>Emory University</a:t>
            </a:r>
          </a:p>
        </p:txBody>
      </p:sp>
      <p:grpSp>
        <p:nvGrpSpPr>
          <p:cNvPr name="Group 3" id="3"/>
          <p:cNvGrpSpPr/>
          <p:nvPr/>
        </p:nvGrpSpPr>
        <p:grpSpPr>
          <a:xfrm rot="0">
            <a:off x="7459577" y="1714791"/>
            <a:ext cx="2117418" cy="3749481"/>
            <a:chOff x="0" y="0"/>
            <a:chExt cx="2823223" cy="4999308"/>
          </a:xfrm>
        </p:grpSpPr>
        <p:sp>
          <p:nvSpPr>
            <p:cNvPr name="Freeform 4" id="4"/>
            <p:cNvSpPr/>
            <p:nvPr/>
          </p:nvSpPr>
          <p:spPr>
            <a:xfrm flipH="false" flipV="false" rot="0">
              <a:off x="0" y="0"/>
              <a:ext cx="2823176" cy="4999258"/>
            </a:xfrm>
            <a:custGeom>
              <a:avLst/>
              <a:gdLst/>
              <a:ahLst/>
              <a:cxnLst/>
              <a:rect r="r" b="b" t="t" l="l"/>
              <a:pathLst>
                <a:path h="4999258" w="2823176">
                  <a:moveTo>
                    <a:pt x="0" y="0"/>
                  </a:moveTo>
                  <a:lnTo>
                    <a:pt x="2823176" y="0"/>
                  </a:lnTo>
                  <a:lnTo>
                    <a:pt x="2823176" y="4999258"/>
                  </a:lnTo>
                  <a:lnTo>
                    <a:pt x="0" y="4999258"/>
                  </a:lnTo>
                  <a:close/>
                </a:path>
              </a:pathLst>
            </a:custGeom>
            <a:solidFill>
              <a:srgbClr val="FFFFFF"/>
            </a:solidFill>
            <a:ln w="12700">
              <a:solidFill>
                <a:srgbClr val="000000"/>
              </a:solidFill>
            </a:ln>
          </p:spPr>
        </p:sp>
      </p:grpSp>
      <p:grpSp>
        <p:nvGrpSpPr>
          <p:cNvPr name="Group 5" id="5"/>
          <p:cNvGrpSpPr/>
          <p:nvPr/>
        </p:nvGrpSpPr>
        <p:grpSpPr>
          <a:xfrm rot="0">
            <a:off x="178126" y="1710472"/>
            <a:ext cx="2591489" cy="2940066"/>
            <a:chOff x="0" y="0"/>
            <a:chExt cx="3455318" cy="3920088"/>
          </a:xfrm>
        </p:grpSpPr>
        <p:sp>
          <p:nvSpPr>
            <p:cNvPr name="Freeform 6" id="6"/>
            <p:cNvSpPr/>
            <p:nvPr/>
          </p:nvSpPr>
          <p:spPr>
            <a:xfrm flipH="false" flipV="false" rot="0">
              <a:off x="0" y="0"/>
              <a:ext cx="3455260" cy="3920049"/>
            </a:xfrm>
            <a:custGeom>
              <a:avLst/>
              <a:gdLst/>
              <a:ahLst/>
              <a:cxnLst/>
              <a:rect r="r" b="b" t="t" l="l"/>
              <a:pathLst>
                <a:path h="3920049" w="3455260">
                  <a:moveTo>
                    <a:pt x="0" y="0"/>
                  </a:moveTo>
                  <a:lnTo>
                    <a:pt x="3455260" y="0"/>
                  </a:lnTo>
                  <a:lnTo>
                    <a:pt x="3455260" y="3920049"/>
                  </a:lnTo>
                  <a:lnTo>
                    <a:pt x="0" y="3920049"/>
                  </a:lnTo>
                  <a:close/>
                </a:path>
              </a:pathLst>
            </a:custGeom>
            <a:solidFill>
              <a:srgbClr val="FFFFFF"/>
            </a:solidFill>
            <a:ln w="12700">
              <a:solidFill>
                <a:srgbClr val="000000"/>
              </a:solidFill>
            </a:ln>
          </p:spPr>
        </p:sp>
      </p:grpSp>
      <p:sp>
        <p:nvSpPr>
          <p:cNvPr name="TextBox 7" id="7"/>
          <p:cNvSpPr txBox="true"/>
          <p:nvPr/>
        </p:nvSpPr>
        <p:spPr>
          <a:xfrm rot="0">
            <a:off x="212920" y="1766356"/>
            <a:ext cx="2526957" cy="2818775"/>
          </a:xfrm>
          <a:prstGeom prst="rect">
            <a:avLst/>
          </a:prstGeom>
        </p:spPr>
        <p:txBody>
          <a:bodyPr anchor="t" rtlCol="false" tIns="0" lIns="0" bIns="0" rIns="0">
            <a:spAutoFit/>
          </a:bodyPr>
          <a:lstStyle/>
          <a:p>
            <a:pPr algn="l">
              <a:lnSpc>
                <a:spcPts val="948"/>
              </a:lnSpc>
            </a:pPr>
            <a:r>
              <a:rPr lang="en-US" b="true" sz="790">
                <a:solidFill>
                  <a:srgbClr val="013973"/>
                </a:solidFill>
                <a:latin typeface="Arial Bold"/>
                <a:ea typeface="Arial Bold"/>
                <a:cs typeface="Arial Bold"/>
                <a:sym typeface="Arial Bold"/>
              </a:rPr>
              <a:t>Research Question:</a:t>
            </a:r>
          </a:p>
          <a:p>
            <a:pPr algn="l">
              <a:lnSpc>
                <a:spcPts val="948"/>
              </a:lnSpc>
            </a:pPr>
            <a:r>
              <a:rPr lang="en-US" sz="790">
                <a:solidFill>
                  <a:srgbClr val="013973"/>
                </a:solidFill>
                <a:latin typeface="Arial"/>
                <a:ea typeface="Arial"/>
                <a:cs typeface="Arial"/>
                <a:sym typeface="Arial"/>
              </a:rPr>
              <a:t>This study seeks to understand whether</a:t>
            </a:r>
            <a:r>
              <a:rPr lang="en-US" b="true" sz="790">
                <a:solidFill>
                  <a:srgbClr val="013973"/>
                </a:solidFill>
                <a:latin typeface="Arial Bold"/>
                <a:ea typeface="Arial Bold"/>
                <a:cs typeface="Arial Bold"/>
                <a:sym typeface="Arial Bold"/>
              </a:rPr>
              <a:t> average daily social media usage </a:t>
            </a:r>
            <a:r>
              <a:rPr lang="en-US" sz="790">
                <a:solidFill>
                  <a:srgbClr val="013973"/>
                </a:solidFill>
                <a:latin typeface="Arial"/>
                <a:ea typeface="Arial"/>
                <a:cs typeface="Arial"/>
                <a:sym typeface="Arial"/>
              </a:rPr>
              <a:t>(hours/day) is associated with </a:t>
            </a:r>
            <a:r>
              <a:rPr lang="en-US" b="true" sz="790">
                <a:solidFill>
                  <a:srgbClr val="013973"/>
                </a:solidFill>
                <a:latin typeface="Arial Bold"/>
                <a:ea typeface="Arial Bold"/>
                <a:cs typeface="Arial Bold"/>
                <a:sym typeface="Arial Bold"/>
              </a:rPr>
              <a:t>sleep</a:t>
            </a:r>
            <a:r>
              <a:rPr lang="en-US" sz="790">
                <a:solidFill>
                  <a:srgbClr val="013973"/>
                </a:solidFill>
                <a:latin typeface="Arial"/>
                <a:ea typeface="Arial"/>
                <a:cs typeface="Arial"/>
                <a:sym typeface="Arial"/>
              </a:rPr>
              <a:t> duration, </a:t>
            </a:r>
            <a:r>
              <a:rPr lang="en-US" b="true" sz="790">
                <a:solidFill>
                  <a:srgbClr val="013973"/>
                </a:solidFill>
                <a:latin typeface="Arial Bold"/>
                <a:ea typeface="Arial Bold"/>
                <a:cs typeface="Arial Bold"/>
                <a:sym typeface="Arial Bold"/>
              </a:rPr>
              <a:t>interpersonal conflict</a:t>
            </a:r>
            <a:r>
              <a:rPr lang="en-US" sz="790">
                <a:solidFill>
                  <a:srgbClr val="013973"/>
                </a:solidFill>
                <a:latin typeface="Arial"/>
                <a:ea typeface="Arial"/>
                <a:cs typeface="Arial"/>
                <a:sym typeface="Arial"/>
              </a:rPr>
              <a:t>, and </a:t>
            </a:r>
            <a:r>
              <a:rPr lang="en-US" b="true" sz="790">
                <a:solidFill>
                  <a:srgbClr val="013973"/>
                </a:solidFill>
                <a:latin typeface="Arial Bold"/>
                <a:ea typeface="Arial Bold"/>
                <a:cs typeface="Arial Bold"/>
                <a:sym typeface="Arial Bold"/>
              </a:rPr>
              <a:t>relationship status</a:t>
            </a:r>
            <a:r>
              <a:rPr lang="en-US" sz="790">
                <a:solidFill>
                  <a:srgbClr val="013973"/>
                </a:solidFill>
                <a:latin typeface="Arial"/>
                <a:ea typeface="Arial"/>
                <a:cs typeface="Arial"/>
                <a:sym typeface="Arial"/>
              </a:rPr>
              <a:t> in a student dataset spanning multiple countries.​</a:t>
            </a:r>
          </a:p>
          <a:p>
            <a:pPr algn="l">
              <a:lnSpc>
                <a:spcPts val="948"/>
              </a:lnSpc>
            </a:pPr>
          </a:p>
          <a:p>
            <a:pPr algn="l">
              <a:lnSpc>
                <a:spcPts val="948"/>
              </a:lnSpc>
            </a:pPr>
            <a:r>
              <a:rPr lang="en-US" b="true" sz="790">
                <a:solidFill>
                  <a:srgbClr val="013973"/>
                </a:solidFill>
                <a:latin typeface="Arial Bold"/>
                <a:ea typeface="Arial Bold"/>
                <a:cs typeface="Arial Bold"/>
                <a:sym typeface="Arial Bold"/>
              </a:rPr>
              <a:t>Background: </a:t>
            </a:r>
          </a:p>
          <a:p>
            <a:pPr algn="l">
              <a:lnSpc>
                <a:spcPts val="948"/>
              </a:lnSpc>
            </a:pPr>
            <a:r>
              <a:rPr lang="en-US" b="true" sz="790">
                <a:solidFill>
                  <a:srgbClr val="013973"/>
                </a:solidFill>
                <a:latin typeface="Arial Bold"/>
                <a:ea typeface="Arial Bold"/>
                <a:cs typeface="Arial Bold"/>
                <a:sym typeface="Arial Bold"/>
              </a:rPr>
              <a:t>Social media usage</a:t>
            </a:r>
            <a:r>
              <a:rPr lang="en-US" sz="790">
                <a:solidFill>
                  <a:srgbClr val="013973"/>
                </a:solidFill>
                <a:latin typeface="Arial"/>
                <a:ea typeface="Arial"/>
                <a:cs typeface="Arial"/>
                <a:sym typeface="Arial"/>
              </a:rPr>
              <a:t> is widely used by high schoolers, undergrad and graduate students and higher use has been linked to</a:t>
            </a:r>
            <a:r>
              <a:rPr lang="en-US" b="true" sz="790">
                <a:solidFill>
                  <a:srgbClr val="013973"/>
                </a:solidFill>
                <a:latin typeface="Arial Bold"/>
                <a:ea typeface="Arial Bold"/>
                <a:cs typeface="Arial Bold"/>
                <a:sym typeface="Arial Bold"/>
              </a:rPr>
              <a:t> various health and lifestyle outcomes</a:t>
            </a:r>
            <a:r>
              <a:rPr lang="en-US" sz="790">
                <a:solidFill>
                  <a:srgbClr val="013973"/>
                </a:solidFill>
                <a:latin typeface="Arial"/>
                <a:ea typeface="Arial"/>
                <a:cs typeface="Arial"/>
                <a:sym typeface="Arial"/>
              </a:rPr>
              <a:t>. Past research has indicated that electronic use, particularly before bedtime, can lead to </a:t>
            </a:r>
            <a:r>
              <a:rPr lang="en-US" b="true" sz="790">
                <a:solidFill>
                  <a:srgbClr val="013973"/>
                </a:solidFill>
                <a:latin typeface="Arial Bold"/>
                <a:ea typeface="Arial Bold"/>
                <a:cs typeface="Arial Bold"/>
                <a:sym typeface="Arial Bold"/>
              </a:rPr>
              <a:t>worse sleep quality and conflicts within relationships </a:t>
            </a:r>
            <a:r>
              <a:rPr lang="en-US" sz="790">
                <a:solidFill>
                  <a:srgbClr val="013973"/>
                </a:solidFill>
                <a:latin typeface="Arial"/>
                <a:ea typeface="Arial"/>
                <a:cs typeface="Arial"/>
                <a:sym typeface="Arial"/>
              </a:rPr>
              <a:t>(Clayton et al., 2013; Lemola et al., 2015; Scott et al., 2019).  </a:t>
            </a:r>
          </a:p>
          <a:p>
            <a:pPr algn="l">
              <a:lnSpc>
                <a:spcPts val="948"/>
              </a:lnSpc>
            </a:pPr>
          </a:p>
          <a:p>
            <a:pPr algn="l">
              <a:lnSpc>
                <a:spcPts val="948"/>
              </a:lnSpc>
            </a:pPr>
            <a:r>
              <a:rPr lang="en-US" sz="790">
                <a:solidFill>
                  <a:srgbClr val="013973"/>
                </a:solidFill>
                <a:latin typeface="Arial"/>
                <a:ea typeface="Arial"/>
                <a:cs typeface="Arial"/>
                <a:sym typeface="Arial"/>
              </a:rPr>
              <a:t>We are interested in social media usage among students (16-25 years), using more recent data spanning various countries. This research could contribute to a growing body of literature examining the </a:t>
            </a:r>
            <a:r>
              <a:rPr lang="en-US" b="true" sz="790">
                <a:solidFill>
                  <a:srgbClr val="013973"/>
                </a:solidFill>
                <a:latin typeface="Arial Bold"/>
                <a:ea typeface="Arial Bold"/>
                <a:cs typeface="Arial Bold"/>
                <a:sym typeface="Arial Bold"/>
              </a:rPr>
              <a:t>outcomes related to increased usage of social media within this population</a:t>
            </a:r>
            <a:r>
              <a:rPr lang="en-US" sz="790">
                <a:solidFill>
                  <a:srgbClr val="013973"/>
                </a:solidFill>
                <a:latin typeface="Arial"/>
                <a:ea typeface="Arial"/>
                <a:cs typeface="Arial"/>
                <a:sym typeface="Arial"/>
              </a:rPr>
              <a:t>. Further research can build on this to assess and create appropriate health interventions that address the effects of social media amongst students. </a:t>
            </a:r>
          </a:p>
        </p:txBody>
      </p:sp>
      <p:sp>
        <p:nvSpPr>
          <p:cNvPr name="TextBox 8" id="8"/>
          <p:cNvSpPr txBox="true"/>
          <p:nvPr/>
        </p:nvSpPr>
        <p:spPr>
          <a:xfrm rot="0">
            <a:off x="4487023" y="1526931"/>
            <a:ext cx="1849120" cy="54181"/>
          </a:xfrm>
          <a:prstGeom prst="rect">
            <a:avLst/>
          </a:prstGeom>
        </p:spPr>
        <p:txBody>
          <a:bodyPr anchor="t" rtlCol="false" tIns="0" lIns="0" bIns="0" rIns="0">
            <a:spAutoFit/>
          </a:bodyPr>
          <a:lstStyle/>
          <a:p>
            <a:pPr algn="l">
              <a:lnSpc>
                <a:spcPts val="960"/>
              </a:lnSpc>
            </a:pPr>
            <a:r>
              <a:rPr lang="en-US" b="true" sz="800">
                <a:solidFill>
                  <a:srgbClr val="013973"/>
                </a:solidFill>
                <a:latin typeface="Montserrat Bold"/>
                <a:ea typeface="Montserrat Bold"/>
                <a:cs typeface="Montserrat Bold"/>
                <a:sym typeface="Montserrat Bold"/>
              </a:rPr>
              <a:t>Results</a:t>
            </a:r>
          </a:p>
        </p:txBody>
      </p:sp>
      <p:grpSp>
        <p:nvGrpSpPr>
          <p:cNvPr name="Group 9" id="9"/>
          <p:cNvGrpSpPr/>
          <p:nvPr/>
        </p:nvGrpSpPr>
        <p:grpSpPr>
          <a:xfrm rot="0">
            <a:off x="7455557" y="5865676"/>
            <a:ext cx="2116702" cy="1311632"/>
            <a:chOff x="0" y="0"/>
            <a:chExt cx="2822269" cy="1748843"/>
          </a:xfrm>
        </p:grpSpPr>
        <p:sp>
          <p:nvSpPr>
            <p:cNvPr name="Freeform 10" id="10"/>
            <p:cNvSpPr/>
            <p:nvPr/>
          </p:nvSpPr>
          <p:spPr>
            <a:xfrm flipH="false" flipV="false" rot="0">
              <a:off x="0" y="0"/>
              <a:ext cx="2822222" cy="1748825"/>
            </a:xfrm>
            <a:custGeom>
              <a:avLst/>
              <a:gdLst/>
              <a:ahLst/>
              <a:cxnLst/>
              <a:rect r="r" b="b" t="t" l="l"/>
              <a:pathLst>
                <a:path h="1748825" w="2822222">
                  <a:moveTo>
                    <a:pt x="0" y="0"/>
                  </a:moveTo>
                  <a:lnTo>
                    <a:pt x="2822222" y="0"/>
                  </a:lnTo>
                  <a:lnTo>
                    <a:pt x="2822222" y="1748825"/>
                  </a:lnTo>
                  <a:lnTo>
                    <a:pt x="0" y="1748825"/>
                  </a:lnTo>
                  <a:close/>
                </a:path>
              </a:pathLst>
            </a:custGeom>
            <a:solidFill>
              <a:srgbClr val="FFFFFF"/>
            </a:solidFill>
            <a:ln w="12700">
              <a:solidFill>
                <a:srgbClr val="000000"/>
              </a:solidFill>
            </a:ln>
          </p:spPr>
        </p:sp>
      </p:grpSp>
      <p:sp>
        <p:nvSpPr>
          <p:cNvPr name="TextBox 11" id="11"/>
          <p:cNvSpPr txBox="true"/>
          <p:nvPr/>
        </p:nvSpPr>
        <p:spPr>
          <a:xfrm rot="0">
            <a:off x="7551643" y="5945623"/>
            <a:ext cx="1849120" cy="52189"/>
          </a:xfrm>
          <a:prstGeom prst="rect">
            <a:avLst/>
          </a:prstGeom>
        </p:spPr>
        <p:txBody>
          <a:bodyPr anchor="t" rtlCol="false" tIns="0" lIns="0" bIns="0" rIns="0">
            <a:spAutoFit/>
          </a:bodyPr>
          <a:lstStyle/>
          <a:p>
            <a:pPr algn="l">
              <a:lnSpc>
                <a:spcPts val="960"/>
              </a:lnSpc>
            </a:pPr>
            <a:r>
              <a:rPr lang="en-US" b="true" sz="800">
                <a:solidFill>
                  <a:srgbClr val="013973"/>
                </a:solidFill>
                <a:latin typeface="Montserrat Bold"/>
                <a:ea typeface="Montserrat Bold"/>
                <a:cs typeface="Montserrat Bold"/>
                <a:sym typeface="Montserrat Bold"/>
              </a:rPr>
              <a:t>References </a:t>
            </a:r>
          </a:p>
        </p:txBody>
      </p:sp>
      <p:sp>
        <p:nvSpPr>
          <p:cNvPr name="TextBox 12" id="12"/>
          <p:cNvSpPr txBox="true"/>
          <p:nvPr/>
        </p:nvSpPr>
        <p:spPr>
          <a:xfrm rot="0">
            <a:off x="7525102" y="1762416"/>
            <a:ext cx="628207" cy="121496"/>
          </a:xfrm>
          <a:prstGeom prst="rect">
            <a:avLst/>
          </a:prstGeom>
        </p:spPr>
        <p:txBody>
          <a:bodyPr anchor="t" rtlCol="false" tIns="0" lIns="0" bIns="0" rIns="0">
            <a:spAutoFit/>
          </a:bodyPr>
          <a:lstStyle/>
          <a:p>
            <a:pPr algn="l">
              <a:lnSpc>
                <a:spcPts val="983"/>
              </a:lnSpc>
            </a:pPr>
            <a:r>
              <a:rPr lang="en-US" sz="819" b="true">
                <a:solidFill>
                  <a:srgbClr val="013973"/>
                </a:solidFill>
                <a:latin typeface="Montserrat Bold"/>
                <a:ea typeface="Montserrat Bold"/>
                <a:cs typeface="Montserrat Bold"/>
                <a:sym typeface="Montserrat Bold"/>
              </a:rPr>
              <a:t>Conclusion</a:t>
            </a:r>
          </a:p>
        </p:txBody>
      </p:sp>
      <p:sp>
        <p:nvSpPr>
          <p:cNvPr name="TextBox 13" id="13"/>
          <p:cNvSpPr txBox="true"/>
          <p:nvPr/>
        </p:nvSpPr>
        <p:spPr>
          <a:xfrm rot="0">
            <a:off x="7514572" y="3473725"/>
            <a:ext cx="1959378" cy="121496"/>
          </a:xfrm>
          <a:prstGeom prst="rect">
            <a:avLst/>
          </a:prstGeom>
        </p:spPr>
        <p:txBody>
          <a:bodyPr anchor="t" rtlCol="false" tIns="0" lIns="0" bIns="0" rIns="0">
            <a:spAutoFit/>
          </a:bodyPr>
          <a:lstStyle/>
          <a:p>
            <a:pPr algn="l">
              <a:lnSpc>
                <a:spcPts val="983"/>
              </a:lnSpc>
            </a:pPr>
            <a:r>
              <a:rPr lang="en-US" b="true" sz="819">
                <a:solidFill>
                  <a:srgbClr val="013973"/>
                </a:solidFill>
                <a:latin typeface="Montserrat Bold"/>
                <a:ea typeface="Montserrat Bold"/>
                <a:cs typeface="Montserrat Bold"/>
                <a:sym typeface="Montserrat Bold"/>
              </a:rPr>
              <a:t>Future Directions</a:t>
            </a:r>
          </a:p>
        </p:txBody>
      </p:sp>
      <p:grpSp>
        <p:nvGrpSpPr>
          <p:cNvPr name="Group 14" id="14"/>
          <p:cNvGrpSpPr/>
          <p:nvPr/>
        </p:nvGrpSpPr>
        <p:grpSpPr>
          <a:xfrm rot="0">
            <a:off x="345722" y="153582"/>
            <a:ext cx="664011" cy="563461"/>
            <a:chOff x="0" y="0"/>
            <a:chExt cx="1811806" cy="1537447"/>
          </a:xfrm>
        </p:grpSpPr>
        <p:sp>
          <p:nvSpPr>
            <p:cNvPr name="Freeform 15" id="15"/>
            <p:cNvSpPr/>
            <p:nvPr/>
          </p:nvSpPr>
          <p:spPr>
            <a:xfrm flipH="false" flipV="false" rot="6000">
              <a:off x="-1340" y="-1580"/>
              <a:ext cx="1814463" cy="1540622"/>
            </a:xfrm>
            <a:custGeom>
              <a:avLst/>
              <a:gdLst/>
              <a:ahLst/>
              <a:cxnLst/>
              <a:rect r="r" b="b" t="t" l="l"/>
              <a:pathLst>
                <a:path h="1540622" w="1814463">
                  <a:moveTo>
                    <a:pt x="0" y="3162"/>
                  </a:moveTo>
                  <a:lnTo>
                    <a:pt x="1811779" y="0"/>
                  </a:lnTo>
                  <a:lnTo>
                    <a:pt x="1814462" y="1537460"/>
                  </a:lnTo>
                  <a:lnTo>
                    <a:pt x="2683" y="1540622"/>
                  </a:lnTo>
                  <a:lnTo>
                    <a:pt x="0" y="3162"/>
                  </a:lnTo>
                  <a:close/>
                </a:path>
              </a:pathLst>
            </a:custGeom>
            <a:blipFill>
              <a:blip r:embed="rId3"/>
              <a:stretch>
                <a:fillRect l="-3" t="-2416" r="-187247" b="-184743"/>
              </a:stretch>
            </a:blipFill>
          </p:spPr>
        </p:sp>
      </p:grpSp>
      <p:grpSp>
        <p:nvGrpSpPr>
          <p:cNvPr name="Group 16" id="16"/>
          <p:cNvGrpSpPr/>
          <p:nvPr/>
        </p:nvGrpSpPr>
        <p:grpSpPr>
          <a:xfrm rot="0">
            <a:off x="178126" y="1367404"/>
            <a:ext cx="2583328" cy="286884"/>
            <a:chOff x="0" y="0"/>
            <a:chExt cx="3444437" cy="382513"/>
          </a:xfrm>
        </p:grpSpPr>
        <p:sp>
          <p:nvSpPr>
            <p:cNvPr name="Freeform 17" id="17"/>
            <p:cNvSpPr/>
            <p:nvPr/>
          </p:nvSpPr>
          <p:spPr>
            <a:xfrm flipH="false" flipV="false" rot="0">
              <a:off x="0" y="0"/>
              <a:ext cx="3444437" cy="382544"/>
            </a:xfrm>
            <a:custGeom>
              <a:avLst/>
              <a:gdLst/>
              <a:ahLst/>
              <a:cxnLst/>
              <a:rect r="r" b="b" t="t" l="l"/>
              <a:pathLst>
                <a:path h="382544" w="3444437">
                  <a:moveTo>
                    <a:pt x="0" y="0"/>
                  </a:moveTo>
                  <a:lnTo>
                    <a:pt x="3444437" y="0"/>
                  </a:lnTo>
                  <a:lnTo>
                    <a:pt x="3444437" y="382544"/>
                  </a:lnTo>
                  <a:lnTo>
                    <a:pt x="0" y="382544"/>
                  </a:lnTo>
                  <a:close/>
                </a:path>
              </a:pathLst>
            </a:custGeom>
            <a:solidFill>
              <a:srgbClr val="F2A900"/>
            </a:solidFill>
            <a:ln w="12700">
              <a:solidFill>
                <a:srgbClr val="000000"/>
              </a:solidFill>
            </a:ln>
          </p:spPr>
        </p:sp>
      </p:grpSp>
      <p:grpSp>
        <p:nvGrpSpPr>
          <p:cNvPr name="Group 18" id="18"/>
          <p:cNvGrpSpPr/>
          <p:nvPr/>
        </p:nvGrpSpPr>
        <p:grpSpPr>
          <a:xfrm rot="0">
            <a:off x="578383" y="1251928"/>
            <a:ext cx="1782815" cy="542029"/>
            <a:chOff x="0" y="0"/>
            <a:chExt cx="2377087" cy="722705"/>
          </a:xfrm>
        </p:grpSpPr>
        <p:sp>
          <p:nvSpPr>
            <p:cNvPr name="Freeform 19" id="19"/>
            <p:cNvSpPr/>
            <p:nvPr/>
          </p:nvSpPr>
          <p:spPr>
            <a:xfrm flipH="false" flipV="false" rot="0">
              <a:off x="0" y="0"/>
              <a:ext cx="2377086" cy="722705"/>
            </a:xfrm>
            <a:custGeom>
              <a:avLst/>
              <a:gdLst/>
              <a:ahLst/>
              <a:cxnLst/>
              <a:rect r="r" b="b" t="t" l="l"/>
              <a:pathLst>
                <a:path h="722705" w="2377086">
                  <a:moveTo>
                    <a:pt x="0" y="0"/>
                  </a:moveTo>
                  <a:lnTo>
                    <a:pt x="2377086" y="0"/>
                  </a:lnTo>
                  <a:lnTo>
                    <a:pt x="2377086" y="722705"/>
                  </a:lnTo>
                  <a:lnTo>
                    <a:pt x="0" y="722705"/>
                  </a:lnTo>
                  <a:close/>
                </a:path>
              </a:pathLst>
            </a:custGeom>
            <a:solidFill>
              <a:srgbClr val="000000">
                <a:alpha val="0"/>
              </a:srgbClr>
            </a:solidFill>
          </p:spPr>
        </p:sp>
        <p:sp>
          <p:nvSpPr>
            <p:cNvPr name="TextBox 20" id="20"/>
            <p:cNvSpPr txBox="true"/>
            <p:nvPr/>
          </p:nvSpPr>
          <p:spPr>
            <a:xfrm>
              <a:off x="0" y="-28575"/>
              <a:ext cx="2377087" cy="751280"/>
            </a:xfrm>
            <a:prstGeom prst="rect">
              <a:avLst/>
            </a:prstGeom>
          </p:spPr>
          <p:txBody>
            <a:bodyPr anchor="ctr" rtlCol="false" tIns="0" lIns="0" bIns="0" rIns="0"/>
            <a:lstStyle/>
            <a:p>
              <a:pPr algn="ctr">
                <a:lnSpc>
                  <a:spcPts val="1334"/>
                </a:lnSpc>
              </a:pPr>
              <a:r>
                <a:rPr lang="en-US" b="true" sz="1112" spc="10">
                  <a:solidFill>
                    <a:srgbClr val="000000"/>
                  </a:solidFill>
                  <a:latin typeface="Calibri (MS) Bold"/>
                  <a:ea typeface="Calibri (MS) Bold"/>
                  <a:cs typeface="Calibri (MS) Bold"/>
                  <a:sym typeface="Calibri (MS) Bold"/>
                </a:rPr>
                <a:t>Abstract/Intro/Motivation</a:t>
              </a:r>
            </a:p>
          </p:txBody>
        </p:sp>
      </p:grpSp>
      <p:grpSp>
        <p:nvGrpSpPr>
          <p:cNvPr name="Group 21" id="21"/>
          <p:cNvGrpSpPr/>
          <p:nvPr/>
        </p:nvGrpSpPr>
        <p:grpSpPr>
          <a:xfrm rot="0">
            <a:off x="178126" y="5037123"/>
            <a:ext cx="2583328" cy="2159124"/>
            <a:chOff x="0" y="0"/>
            <a:chExt cx="3444437" cy="2878832"/>
          </a:xfrm>
        </p:grpSpPr>
        <p:sp>
          <p:nvSpPr>
            <p:cNvPr name="Freeform 22" id="22"/>
            <p:cNvSpPr/>
            <p:nvPr/>
          </p:nvSpPr>
          <p:spPr>
            <a:xfrm flipH="false" flipV="false" rot="0">
              <a:off x="0" y="0"/>
              <a:ext cx="3444379" cy="2878803"/>
            </a:xfrm>
            <a:custGeom>
              <a:avLst/>
              <a:gdLst/>
              <a:ahLst/>
              <a:cxnLst/>
              <a:rect r="r" b="b" t="t" l="l"/>
              <a:pathLst>
                <a:path h="2878803" w="3444379">
                  <a:moveTo>
                    <a:pt x="0" y="0"/>
                  </a:moveTo>
                  <a:lnTo>
                    <a:pt x="3444379" y="0"/>
                  </a:lnTo>
                  <a:lnTo>
                    <a:pt x="3444379" y="2878803"/>
                  </a:lnTo>
                  <a:lnTo>
                    <a:pt x="0" y="2878803"/>
                  </a:lnTo>
                  <a:close/>
                </a:path>
              </a:pathLst>
            </a:custGeom>
            <a:solidFill>
              <a:srgbClr val="FFFFFF"/>
            </a:solidFill>
            <a:ln w="12700">
              <a:solidFill>
                <a:srgbClr val="000000"/>
              </a:solidFill>
            </a:ln>
          </p:spPr>
        </p:sp>
      </p:grpSp>
      <p:grpSp>
        <p:nvGrpSpPr>
          <p:cNvPr name="Group 23" id="23"/>
          <p:cNvGrpSpPr/>
          <p:nvPr/>
        </p:nvGrpSpPr>
        <p:grpSpPr>
          <a:xfrm rot="0">
            <a:off x="2863702" y="1714461"/>
            <a:ext cx="4491101" cy="5481294"/>
            <a:chOff x="0" y="0"/>
            <a:chExt cx="5988134" cy="7308392"/>
          </a:xfrm>
        </p:grpSpPr>
        <p:sp>
          <p:nvSpPr>
            <p:cNvPr name="Freeform 24" id="24"/>
            <p:cNvSpPr/>
            <p:nvPr/>
          </p:nvSpPr>
          <p:spPr>
            <a:xfrm flipH="false" flipV="false" rot="0">
              <a:off x="0" y="0"/>
              <a:ext cx="5988034" cy="7308319"/>
            </a:xfrm>
            <a:custGeom>
              <a:avLst/>
              <a:gdLst/>
              <a:ahLst/>
              <a:cxnLst/>
              <a:rect r="r" b="b" t="t" l="l"/>
              <a:pathLst>
                <a:path h="7308319" w="5988034">
                  <a:moveTo>
                    <a:pt x="0" y="0"/>
                  </a:moveTo>
                  <a:lnTo>
                    <a:pt x="5988034" y="0"/>
                  </a:lnTo>
                  <a:lnTo>
                    <a:pt x="5988034" y="7308319"/>
                  </a:lnTo>
                  <a:lnTo>
                    <a:pt x="0" y="7308319"/>
                  </a:lnTo>
                  <a:close/>
                </a:path>
              </a:pathLst>
            </a:custGeom>
            <a:solidFill>
              <a:srgbClr val="FFFFFF"/>
            </a:solidFill>
            <a:ln w="12700">
              <a:solidFill>
                <a:srgbClr val="000000"/>
              </a:solidFill>
            </a:ln>
          </p:spPr>
        </p:sp>
      </p:grpSp>
      <p:grpSp>
        <p:nvGrpSpPr>
          <p:cNvPr name="Group 25" id="25"/>
          <p:cNvGrpSpPr/>
          <p:nvPr/>
        </p:nvGrpSpPr>
        <p:grpSpPr>
          <a:xfrm rot="0">
            <a:off x="2869928" y="3469938"/>
            <a:ext cx="4432834" cy="1879761"/>
            <a:chOff x="0" y="0"/>
            <a:chExt cx="5910445" cy="2506348"/>
          </a:xfrm>
        </p:grpSpPr>
        <p:sp>
          <p:nvSpPr>
            <p:cNvPr name="Freeform 26" id="26"/>
            <p:cNvSpPr/>
            <p:nvPr/>
          </p:nvSpPr>
          <p:spPr>
            <a:xfrm flipH="false" flipV="false" rot="0">
              <a:off x="0" y="0"/>
              <a:ext cx="5910346" cy="2506323"/>
            </a:xfrm>
            <a:custGeom>
              <a:avLst/>
              <a:gdLst/>
              <a:ahLst/>
              <a:cxnLst/>
              <a:rect r="r" b="b" t="t" l="l"/>
              <a:pathLst>
                <a:path h="2506323" w="5910346">
                  <a:moveTo>
                    <a:pt x="0" y="0"/>
                  </a:moveTo>
                  <a:lnTo>
                    <a:pt x="5910346" y="0"/>
                  </a:lnTo>
                  <a:lnTo>
                    <a:pt x="5910346" y="2506323"/>
                  </a:lnTo>
                  <a:lnTo>
                    <a:pt x="0" y="2506323"/>
                  </a:lnTo>
                  <a:close/>
                </a:path>
              </a:pathLst>
            </a:custGeom>
            <a:solidFill>
              <a:srgbClr val="EEF3FF"/>
            </a:solidFill>
            <a:ln w="12700">
              <a:solidFill>
                <a:srgbClr val="000000"/>
              </a:solidFill>
            </a:ln>
          </p:spPr>
        </p:sp>
      </p:grpSp>
      <p:grpSp>
        <p:nvGrpSpPr>
          <p:cNvPr name="Group 27" id="27"/>
          <p:cNvGrpSpPr/>
          <p:nvPr/>
        </p:nvGrpSpPr>
        <p:grpSpPr>
          <a:xfrm rot="0">
            <a:off x="175599" y="4717214"/>
            <a:ext cx="2583328" cy="235531"/>
            <a:chOff x="0" y="0"/>
            <a:chExt cx="3444437" cy="314041"/>
          </a:xfrm>
        </p:grpSpPr>
        <p:sp>
          <p:nvSpPr>
            <p:cNvPr name="Freeform 28" id="28"/>
            <p:cNvSpPr/>
            <p:nvPr/>
          </p:nvSpPr>
          <p:spPr>
            <a:xfrm flipH="false" flipV="false" rot="0">
              <a:off x="0" y="0"/>
              <a:ext cx="3444437" cy="314073"/>
            </a:xfrm>
            <a:custGeom>
              <a:avLst/>
              <a:gdLst/>
              <a:ahLst/>
              <a:cxnLst/>
              <a:rect r="r" b="b" t="t" l="l"/>
              <a:pathLst>
                <a:path h="314073" w="3444437">
                  <a:moveTo>
                    <a:pt x="0" y="0"/>
                  </a:moveTo>
                  <a:lnTo>
                    <a:pt x="3444437" y="0"/>
                  </a:lnTo>
                  <a:lnTo>
                    <a:pt x="3444437" y="314073"/>
                  </a:lnTo>
                  <a:lnTo>
                    <a:pt x="0" y="314073"/>
                  </a:lnTo>
                  <a:close/>
                </a:path>
              </a:pathLst>
            </a:custGeom>
            <a:solidFill>
              <a:srgbClr val="F2A900"/>
            </a:solidFill>
            <a:ln w="12700">
              <a:solidFill>
                <a:srgbClr val="000000"/>
              </a:solidFill>
            </a:ln>
          </p:spPr>
        </p:sp>
      </p:grpSp>
      <p:grpSp>
        <p:nvGrpSpPr>
          <p:cNvPr name="Group 29" id="29"/>
          <p:cNvGrpSpPr/>
          <p:nvPr/>
        </p:nvGrpSpPr>
        <p:grpSpPr>
          <a:xfrm rot="0">
            <a:off x="575855" y="4717214"/>
            <a:ext cx="1782815" cy="216773"/>
            <a:chOff x="0" y="0"/>
            <a:chExt cx="2377087" cy="289030"/>
          </a:xfrm>
        </p:grpSpPr>
        <p:sp>
          <p:nvSpPr>
            <p:cNvPr name="Freeform 30" id="30"/>
            <p:cNvSpPr/>
            <p:nvPr/>
          </p:nvSpPr>
          <p:spPr>
            <a:xfrm flipH="false" flipV="false" rot="0">
              <a:off x="0" y="0"/>
              <a:ext cx="2377086" cy="289030"/>
            </a:xfrm>
            <a:custGeom>
              <a:avLst/>
              <a:gdLst/>
              <a:ahLst/>
              <a:cxnLst/>
              <a:rect r="r" b="b" t="t" l="l"/>
              <a:pathLst>
                <a:path h="289030" w="2377086">
                  <a:moveTo>
                    <a:pt x="0" y="0"/>
                  </a:moveTo>
                  <a:lnTo>
                    <a:pt x="2377086" y="0"/>
                  </a:lnTo>
                  <a:lnTo>
                    <a:pt x="2377086" y="289030"/>
                  </a:lnTo>
                  <a:lnTo>
                    <a:pt x="0" y="289030"/>
                  </a:lnTo>
                  <a:close/>
                </a:path>
              </a:pathLst>
            </a:custGeom>
            <a:solidFill>
              <a:srgbClr val="000000">
                <a:alpha val="0"/>
              </a:srgbClr>
            </a:solidFill>
          </p:spPr>
        </p:sp>
        <p:sp>
          <p:nvSpPr>
            <p:cNvPr name="TextBox 31" id="31"/>
            <p:cNvSpPr txBox="true"/>
            <p:nvPr/>
          </p:nvSpPr>
          <p:spPr>
            <a:xfrm>
              <a:off x="0" y="-28575"/>
              <a:ext cx="2377087" cy="317605"/>
            </a:xfrm>
            <a:prstGeom prst="rect">
              <a:avLst/>
            </a:prstGeom>
          </p:spPr>
          <p:txBody>
            <a:bodyPr anchor="ctr" rtlCol="false" tIns="0" lIns="0" bIns="0" rIns="0"/>
            <a:lstStyle/>
            <a:p>
              <a:pPr algn="ctr">
                <a:lnSpc>
                  <a:spcPts val="1334"/>
                </a:lnSpc>
              </a:pPr>
              <a:r>
                <a:rPr lang="en-US" b="true" sz="1112" spc="10">
                  <a:solidFill>
                    <a:srgbClr val="000000"/>
                  </a:solidFill>
                  <a:latin typeface="Calibri (MS) Bold"/>
                  <a:ea typeface="Calibri (MS) Bold"/>
                  <a:cs typeface="Calibri (MS) Bold"/>
                  <a:sym typeface="Calibri (MS) Bold"/>
                </a:rPr>
                <a:t>Methods</a:t>
              </a:r>
            </a:p>
          </p:txBody>
        </p:sp>
      </p:grpSp>
      <p:grpSp>
        <p:nvGrpSpPr>
          <p:cNvPr name="Group 32" id="32"/>
          <p:cNvGrpSpPr/>
          <p:nvPr/>
        </p:nvGrpSpPr>
        <p:grpSpPr>
          <a:xfrm rot="0">
            <a:off x="2863702" y="1383489"/>
            <a:ext cx="4491101" cy="286884"/>
            <a:chOff x="0" y="0"/>
            <a:chExt cx="5988134" cy="382513"/>
          </a:xfrm>
        </p:grpSpPr>
        <p:sp>
          <p:nvSpPr>
            <p:cNvPr name="Freeform 33" id="33"/>
            <p:cNvSpPr/>
            <p:nvPr/>
          </p:nvSpPr>
          <p:spPr>
            <a:xfrm flipH="false" flipV="false" rot="0">
              <a:off x="0" y="0"/>
              <a:ext cx="5988134" cy="382544"/>
            </a:xfrm>
            <a:custGeom>
              <a:avLst/>
              <a:gdLst/>
              <a:ahLst/>
              <a:cxnLst/>
              <a:rect r="r" b="b" t="t" l="l"/>
              <a:pathLst>
                <a:path h="382544" w="5988134">
                  <a:moveTo>
                    <a:pt x="0" y="0"/>
                  </a:moveTo>
                  <a:lnTo>
                    <a:pt x="5988134" y="0"/>
                  </a:lnTo>
                  <a:lnTo>
                    <a:pt x="5988134" y="382544"/>
                  </a:lnTo>
                  <a:lnTo>
                    <a:pt x="0" y="382544"/>
                  </a:lnTo>
                  <a:close/>
                </a:path>
              </a:pathLst>
            </a:custGeom>
            <a:solidFill>
              <a:srgbClr val="F2A900"/>
            </a:solidFill>
            <a:ln w="12700">
              <a:solidFill>
                <a:srgbClr val="000000"/>
              </a:solidFill>
            </a:ln>
          </p:spPr>
        </p:sp>
      </p:grpSp>
      <p:grpSp>
        <p:nvGrpSpPr>
          <p:cNvPr name="Group 34" id="34"/>
          <p:cNvGrpSpPr/>
          <p:nvPr/>
        </p:nvGrpSpPr>
        <p:grpSpPr>
          <a:xfrm rot="0">
            <a:off x="4308414" y="1255916"/>
            <a:ext cx="1782815" cy="542029"/>
            <a:chOff x="0" y="0"/>
            <a:chExt cx="2377087" cy="722705"/>
          </a:xfrm>
        </p:grpSpPr>
        <p:sp>
          <p:nvSpPr>
            <p:cNvPr name="Freeform 35" id="35"/>
            <p:cNvSpPr/>
            <p:nvPr/>
          </p:nvSpPr>
          <p:spPr>
            <a:xfrm flipH="false" flipV="false" rot="0">
              <a:off x="0" y="0"/>
              <a:ext cx="2377086" cy="722705"/>
            </a:xfrm>
            <a:custGeom>
              <a:avLst/>
              <a:gdLst/>
              <a:ahLst/>
              <a:cxnLst/>
              <a:rect r="r" b="b" t="t" l="l"/>
              <a:pathLst>
                <a:path h="722705" w="2377086">
                  <a:moveTo>
                    <a:pt x="0" y="0"/>
                  </a:moveTo>
                  <a:lnTo>
                    <a:pt x="2377086" y="0"/>
                  </a:lnTo>
                  <a:lnTo>
                    <a:pt x="2377086" y="722705"/>
                  </a:lnTo>
                  <a:lnTo>
                    <a:pt x="0" y="722705"/>
                  </a:lnTo>
                  <a:close/>
                </a:path>
              </a:pathLst>
            </a:custGeom>
            <a:solidFill>
              <a:srgbClr val="000000">
                <a:alpha val="0"/>
              </a:srgbClr>
            </a:solidFill>
          </p:spPr>
        </p:sp>
        <p:sp>
          <p:nvSpPr>
            <p:cNvPr name="TextBox 36" id="36"/>
            <p:cNvSpPr txBox="true"/>
            <p:nvPr/>
          </p:nvSpPr>
          <p:spPr>
            <a:xfrm>
              <a:off x="0" y="-28575"/>
              <a:ext cx="2377087" cy="751280"/>
            </a:xfrm>
            <a:prstGeom prst="rect">
              <a:avLst/>
            </a:prstGeom>
          </p:spPr>
          <p:txBody>
            <a:bodyPr anchor="ctr" rtlCol="false" tIns="0" lIns="0" bIns="0" rIns="0"/>
            <a:lstStyle/>
            <a:p>
              <a:pPr algn="ctr">
                <a:lnSpc>
                  <a:spcPts val="1334"/>
                </a:lnSpc>
              </a:pPr>
              <a:r>
                <a:rPr lang="en-US" b="true" sz="1112" spc="10">
                  <a:solidFill>
                    <a:srgbClr val="000000"/>
                  </a:solidFill>
                  <a:latin typeface="Calibri (MS) Bold"/>
                  <a:ea typeface="Calibri (MS) Bold"/>
                  <a:cs typeface="Calibri (MS) Bold"/>
                  <a:sym typeface="Calibri (MS) Bold"/>
                </a:rPr>
                <a:t>Results </a:t>
              </a:r>
            </a:p>
          </p:txBody>
        </p:sp>
      </p:grpSp>
      <p:grpSp>
        <p:nvGrpSpPr>
          <p:cNvPr name="Group 37" id="37"/>
          <p:cNvGrpSpPr>
            <a:grpSpLocks noChangeAspect="true"/>
          </p:cNvGrpSpPr>
          <p:nvPr/>
        </p:nvGrpSpPr>
        <p:grpSpPr>
          <a:xfrm rot="0">
            <a:off x="2950733" y="1868517"/>
            <a:ext cx="2236077" cy="1601421"/>
            <a:chOff x="0" y="0"/>
            <a:chExt cx="2467135" cy="1766898"/>
          </a:xfrm>
        </p:grpSpPr>
        <p:sp>
          <p:nvSpPr>
            <p:cNvPr name="Freeform 38" id="38"/>
            <p:cNvSpPr/>
            <p:nvPr/>
          </p:nvSpPr>
          <p:spPr>
            <a:xfrm flipH="false" flipV="false" rot="6000">
              <a:off x="-1540" y="-2152"/>
              <a:ext cx="2470182" cy="1771254"/>
            </a:xfrm>
            <a:custGeom>
              <a:avLst/>
              <a:gdLst/>
              <a:ahLst/>
              <a:cxnLst/>
              <a:rect r="r" b="b" t="t" l="l"/>
              <a:pathLst>
                <a:path h="1771254" w="2470182">
                  <a:moveTo>
                    <a:pt x="0" y="4306"/>
                  </a:moveTo>
                  <a:lnTo>
                    <a:pt x="2467098" y="0"/>
                  </a:lnTo>
                  <a:lnTo>
                    <a:pt x="2470182" y="1766949"/>
                  </a:lnTo>
                  <a:lnTo>
                    <a:pt x="3084" y="1771255"/>
                  </a:lnTo>
                  <a:lnTo>
                    <a:pt x="0" y="4306"/>
                  </a:lnTo>
                  <a:close/>
                </a:path>
              </a:pathLst>
            </a:custGeom>
            <a:blipFill>
              <a:blip r:embed="rId4"/>
              <a:stretch>
                <a:fillRect l="-1702" t="-5" r="-7986" b="0"/>
              </a:stretch>
            </a:blipFill>
          </p:spPr>
        </p:sp>
      </p:grpSp>
      <p:grpSp>
        <p:nvGrpSpPr>
          <p:cNvPr name="Group 39" id="39"/>
          <p:cNvGrpSpPr>
            <a:grpSpLocks noChangeAspect="true"/>
          </p:cNvGrpSpPr>
          <p:nvPr/>
        </p:nvGrpSpPr>
        <p:grpSpPr>
          <a:xfrm rot="0">
            <a:off x="5086345" y="3640302"/>
            <a:ext cx="2140186" cy="1643537"/>
            <a:chOff x="0" y="0"/>
            <a:chExt cx="2612180" cy="2006001"/>
          </a:xfrm>
        </p:grpSpPr>
        <p:sp>
          <p:nvSpPr>
            <p:cNvPr name="Freeform 40" id="40" descr="A graph of a diagram  AI-generated content may be incorrect."/>
            <p:cNvSpPr/>
            <p:nvPr/>
          </p:nvSpPr>
          <p:spPr>
            <a:xfrm flipH="false" flipV="false" rot="0">
              <a:off x="0" y="0"/>
              <a:ext cx="2612136" cy="2005965"/>
            </a:xfrm>
            <a:custGeom>
              <a:avLst/>
              <a:gdLst/>
              <a:ahLst/>
              <a:cxnLst/>
              <a:rect r="r" b="b" t="t" l="l"/>
              <a:pathLst>
                <a:path h="2005965" w="2612136">
                  <a:moveTo>
                    <a:pt x="0" y="0"/>
                  </a:moveTo>
                  <a:lnTo>
                    <a:pt x="2612136" y="0"/>
                  </a:lnTo>
                  <a:lnTo>
                    <a:pt x="2612136" y="2005965"/>
                  </a:lnTo>
                  <a:lnTo>
                    <a:pt x="0" y="2005965"/>
                  </a:lnTo>
                  <a:lnTo>
                    <a:pt x="0" y="0"/>
                  </a:lnTo>
                  <a:close/>
                </a:path>
              </a:pathLst>
            </a:custGeom>
            <a:blipFill>
              <a:blip r:embed="rId5"/>
              <a:stretch>
                <a:fillRect l="-1081" t="0" r="-1083" b="-1"/>
              </a:stretch>
            </a:blipFill>
          </p:spPr>
        </p:sp>
      </p:grpSp>
      <p:grpSp>
        <p:nvGrpSpPr>
          <p:cNvPr name="Group 41" id="41"/>
          <p:cNvGrpSpPr>
            <a:grpSpLocks noChangeAspect="true"/>
          </p:cNvGrpSpPr>
          <p:nvPr/>
        </p:nvGrpSpPr>
        <p:grpSpPr>
          <a:xfrm rot="0">
            <a:off x="2908681" y="5594539"/>
            <a:ext cx="2404702" cy="1601216"/>
            <a:chOff x="0" y="0"/>
            <a:chExt cx="2705228" cy="1801327"/>
          </a:xfrm>
        </p:grpSpPr>
        <p:sp>
          <p:nvSpPr>
            <p:cNvPr name="Freeform 42" id="42" descr="A graph of a bar chart  AI-generated content may be incorrect."/>
            <p:cNvSpPr/>
            <p:nvPr/>
          </p:nvSpPr>
          <p:spPr>
            <a:xfrm flipH="false" flipV="false" rot="0">
              <a:off x="0" y="0"/>
              <a:ext cx="2705227" cy="1801368"/>
            </a:xfrm>
            <a:custGeom>
              <a:avLst/>
              <a:gdLst/>
              <a:ahLst/>
              <a:cxnLst/>
              <a:rect r="r" b="b" t="t" l="l"/>
              <a:pathLst>
                <a:path h="1801368" w="2705227">
                  <a:moveTo>
                    <a:pt x="0" y="0"/>
                  </a:moveTo>
                  <a:lnTo>
                    <a:pt x="2705227" y="0"/>
                  </a:lnTo>
                  <a:lnTo>
                    <a:pt x="2705227" y="1801368"/>
                  </a:lnTo>
                  <a:lnTo>
                    <a:pt x="0" y="1801368"/>
                  </a:lnTo>
                  <a:lnTo>
                    <a:pt x="0" y="0"/>
                  </a:lnTo>
                  <a:close/>
                </a:path>
              </a:pathLst>
            </a:custGeom>
            <a:blipFill>
              <a:blip r:embed="rId6"/>
              <a:stretch>
                <a:fillRect l="-919" t="0" r="-919" b="2"/>
              </a:stretch>
            </a:blipFill>
          </p:spPr>
        </p:sp>
      </p:grpSp>
      <p:sp>
        <p:nvSpPr>
          <p:cNvPr name="TextBox 43" id="43"/>
          <p:cNvSpPr txBox="true"/>
          <p:nvPr/>
        </p:nvSpPr>
        <p:spPr>
          <a:xfrm rot="0">
            <a:off x="257612" y="5131391"/>
            <a:ext cx="2434640" cy="1999396"/>
          </a:xfrm>
          <a:prstGeom prst="rect">
            <a:avLst/>
          </a:prstGeom>
        </p:spPr>
        <p:txBody>
          <a:bodyPr anchor="t" rtlCol="false" tIns="0" lIns="0" bIns="0" rIns="0">
            <a:spAutoFit/>
          </a:bodyPr>
          <a:lstStyle/>
          <a:p>
            <a:pPr algn="l">
              <a:lnSpc>
                <a:spcPts val="947"/>
              </a:lnSpc>
            </a:pPr>
            <a:r>
              <a:rPr lang="en-US" b="true" sz="789">
                <a:solidFill>
                  <a:srgbClr val="013973"/>
                </a:solidFill>
                <a:latin typeface="Arial Bold"/>
                <a:ea typeface="Arial Bold"/>
                <a:cs typeface="Arial Bold"/>
                <a:sym typeface="Arial Bold"/>
              </a:rPr>
              <a:t>Dataset: </a:t>
            </a:r>
            <a:r>
              <a:rPr lang="en-US" sz="789">
                <a:solidFill>
                  <a:srgbClr val="013973"/>
                </a:solidFill>
                <a:latin typeface="Arial"/>
                <a:ea typeface="Arial"/>
                <a:cs typeface="Arial"/>
                <a:sym typeface="Arial"/>
              </a:rPr>
              <a:t>Students’ Social Media Usage (Kaggle), ages ~16–25, students across multiple countries.</a:t>
            </a:r>
          </a:p>
          <a:p>
            <a:pPr algn="l">
              <a:lnSpc>
                <a:spcPts val="947"/>
              </a:lnSpc>
            </a:pPr>
          </a:p>
          <a:p>
            <a:pPr algn="l">
              <a:lnSpc>
                <a:spcPts val="947"/>
              </a:lnSpc>
            </a:pPr>
            <a:r>
              <a:rPr lang="en-US" b="true" sz="789" i="true">
                <a:solidFill>
                  <a:srgbClr val="013973"/>
                </a:solidFill>
                <a:latin typeface="Arial Bold Italics"/>
                <a:ea typeface="Arial Bold Italics"/>
                <a:cs typeface="Arial Bold Italics"/>
                <a:sym typeface="Arial Bold Italics"/>
              </a:rPr>
              <a:t>Independent Variable:</a:t>
            </a:r>
          </a:p>
          <a:p>
            <a:pPr algn="l" marL="170560" indent="-85280" lvl="1">
              <a:lnSpc>
                <a:spcPts val="947"/>
              </a:lnSpc>
              <a:buFont typeface="Arial"/>
              <a:buChar char="•"/>
            </a:pPr>
            <a:r>
              <a:rPr lang="en-US" sz="789">
                <a:solidFill>
                  <a:srgbClr val="013973"/>
                </a:solidFill>
                <a:latin typeface="Arial"/>
                <a:ea typeface="Arial"/>
                <a:cs typeface="Arial"/>
                <a:sym typeface="Arial"/>
              </a:rPr>
              <a:t>Avg_Daily_Usage_Hours</a:t>
            </a:r>
          </a:p>
          <a:p>
            <a:pPr algn="l">
              <a:lnSpc>
                <a:spcPts val="947"/>
              </a:lnSpc>
            </a:pPr>
          </a:p>
          <a:p>
            <a:pPr algn="l">
              <a:lnSpc>
                <a:spcPts val="947"/>
              </a:lnSpc>
            </a:pPr>
            <a:r>
              <a:rPr lang="en-US" b="true" sz="789" i="true">
                <a:solidFill>
                  <a:srgbClr val="013973"/>
                </a:solidFill>
                <a:latin typeface="Arial Bold Italics"/>
                <a:ea typeface="Arial Bold Italics"/>
                <a:cs typeface="Arial Bold Italics"/>
                <a:sym typeface="Arial Bold Italics"/>
              </a:rPr>
              <a:t>Dependent Variables: </a:t>
            </a:r>
          </a:p>
          <a:p>
            <a:pPr algn="l" marL="170560" indent="-85280" lvl="1">
              <a:lnSpc>
                <a:spcPts val="947"/>
              </a:lnSpc>
              <a:buFont typeface="Arial"/>
              <a:buChar char="•"/>
            </a:pPr>
            <a:r>
              <a:rPr lang="en-US" sz="789">
                <a:solidFill>
                  <a:srgbClr val="013973"/>
                </a:solidFill>
                <a:latin typeface="Arial"/>
                <a:ea typeface="Arial"/>
                <a:cs typeface="Arial"/>
                <a:sym typeface="Arial"/>
              </a:rPr>
              <a:t>Sleep_Hours_Per_Night</a:t>
            </a:r>
          </a:p>
          <a:p>
            <a:pPr algn="l" marL="170560" indent="-85280" lvl="1">
              <a:lnSpc>
                <a:spcPts val="947"/>
              </a:lnSpc>
              <a:buFont typeface="Arial"/>
              <a:buChar char="•"/>
            </a:pPr>
            <a:r>
              <a:rPr lang="en-US" sz="789">
                <a:solidFill>
                  <a:srgbClr val="013973"/>
                </a:solidFill>
                <a:latin typeface="Arial"/>
                <a:ea typeface="Arial"/>
                <a:cs typeface="Arial"/>
                <a:sym typeface="Arial"/>
              </a:rPr>
              <a:t>Conflicts_Over_Social_Media</a:t>
            </a:r>
          </a:p>
          <a:p>
            <a:pPr algn="l" marL="170560" indent="-85280" lvl="1">
              <a:lnSpc>
                <a:spcPts val="947"/>
              </a:lnSpc>
              <a:buFont typeface="Arial"/>
              <a:buChar char="•"/>
            </a:pPr>
            <a:r>
              <a:rPr lang="en-US" sz="789">
                <a:solidFill>
                  <a:srgbClr val="013973"/>
                </a:solidFill>
                <a:latin typeface="Arial"/>
                <a:ea typeface="Arial"/>
                <a:cs typeface="Arial"/>
                <a:sym typeface="Arial"/>
              </a:rPr>
              <a:t>Relationship_Status</a:t>
            </a:r>
          </a:p>
          <a:p>
            <a:pPr algn="l">
              <a:lnSpc>
                <a:spcPts val="947"/>
              </a:lnSpc>
            </a:pPr>
          </a:p>
          <a:p>
            <a:pPr algn="l">
              <a:lnSpc>
                <a:spcPts val="947"/>
              </a:lnSpc>
            </a:pPr>
            <a:r>
              <a:rPr lang="en-US" sz="789">
                <a:solidFill>
                  <a:srgbClr val="013973"/>
                </a:solidFill>
                <a:latin typeface="Arial"/>
                <a:ea typeface="Arial"/>
                <a:cs typeface="Arial"/>
                <a:sym typeface="Arial"/>
              </a:rPr>
              <a:t>Preliminary Analysis consisted of </a:t>
            </a:r>
            <a:r>
              <a:rPr lang="en-US" b="true" sz="789">
                <a:solidFill>
                  <a:srgbClr val="013973"/>
                </a:solidFill>
                <a:latin typeface="Arial Bold"/>
                <a:ea typeface="Arial Bold"/>
                <a:cs typeface="Arial Bold"/>
                <a:sym typeface="Arial Bold"/>
              </a:rPr>
              <a:t>descriptive statistics and data cleaning</a:t>
            </a:r>
            <a:r>
              <a:rPr lang="en-US" sz="789">
                <a:solidFill>
                  <a:srgbClr val="013973"/>
                </a:solidFill>
                <a:latin typeface="Arial"/>
                <a:ea typeface="Arial"/>
                <a:cs typeface="Arial"/>
                <a:sym typeface="Arial"/>
              </a:rPr>
              <a:t>.</a:t>
            </a:r>
          </a:p>
          <a:p>
            <a:pPr algn="l">
              <a:lnSpc>
                <a:spcPts val="947"/>
              </a:lnSpc>
            </a:pPr>
          </a:p>
          <a:p>
            <a:pPr algn="l">
              <a:lnSpc>
                <a:spcPts val="947"/>
              </a:lnSpc>
            </a:pPr>
            <a:r>
              <a:rPr lang="en-US" sz="789">
                <a:solidFill>
                  <a:srgbClr val="013973"/>
                </a:solidFill>
                <a:latin typeface="Arial"/>
                <a:ea typeface="Arial"/>
                <a:cs typeface="Arial"/>
                <a:sym typeface="Arial"/>
              </a:rPr>
              <a:t>This was followed by </a:t>
            </a:r>
            <a:r>
              <a:rPr lang="en-US" b="true" sz="789">
                <a:solidFill>
                  <a:srgbClr val="013973"/>
                </a:solidFill>
                <a:latin typeface="Arial Bold"/>
                <a:ea typeface="Arial Bold"/>
                <a:cs typeface="Arial Bold"/>
                <a:sym typeface="Arial Bold"/>
              </a:rPr>
              <a:t>linear regression</a:t>
            </a:r>
            <a:r>
              <a:rPr lang="en-US" sz="789">
                <a:solidFill>
                  <a:srgbClr val="013973"/>
                </a:solidFill>
                <a:latin typeface="Arial"/>
                <a:ea typeface="Arial"/>
                <a:cs typeface="Arial"/>
                <a:sym typeface="Arial"/>
              </a:rPr>
              <a:t> to evaluate model 1 and 2, and a </a:t>
            </a:r>
            <a:r>
              <a:rPr lang="en-US" b="true" sz="789">
                <a:solidFill>
                  <a:srgbClr val="013973"/>
                </a:solidFill>
                <a:latin typeface="Arial Bold"/>
                <a:ea typeface="Arial Bold"/>
                <a:cs typeface="Arial Bold"/>
                <a:sym typeface="Arial Bold"/>
              </a:rPr>
              <a:t>multinomial logistic regression</a:t>
            </a:r>
            <a:r>
              <a:rPr lang="en-US" sz="789">
                <a:solidFill>
                  <a:srgbClr val="013973"/>
                </a:solidFill>
                <a:latin typeface="Arial"/>
                <a:ea typeface="Arial"/>
                <a:cs typeface="Arial"/>
                <a:sym typeface="Arial"/>
              </a:rPr>
              <a:t> for model 3. </a:t>
            </a:r>
          </a:p>
        </p:txBody>
      </p:sp>
      <p:sp>
        <p:nvSpPr>
          <p:cNvPr name="TextBox 44" id="44"/>
          <p:cNvSpPr txBox="true"/>
          <p:nvPr/>
        </p:nvSpPr>
        <p:spPr>
          <a:xfrm rot="0">
            <a:off x="4020633" y="1737048"/>
            <a:ext cx="2358377" cy="131351"/>
          </a:xfrm>
          <a:prstGeom prst="rect">
            <a:avLst/>
          </a:prstGeom>
        </p:spPr>
        <p:txBody>
          <a:bodyPr anchor="t" rtlCol="false" tIns="0" lIns="0" bIns="0" rIns="0">
            <a:spAutoFit/>
          </a:bodyPr>
          <a:lstStyle/>
          <a:p>
            <a:pPr algn="ctr">
              <a:lnSpc>
                <a:spcPts val="986"/>
              </a:lnSpc>
            </a:pPr>
            <a:r>
              <a:rPr lang="en-US" sz="822" b="true">
                <a:solidFill>
                  <a:srgbClr val="013973"/>
                </a:solidFill>
                <a:latin typeface="Arial Bold"/>
                <a:ea typeface="Arial Bold"/>
                <a:cs typeface="Arial Bold"/>
                <a:sym typeface="Arial Bold"/>
              </a:rPr>
              <a:t>MODEL 1: Social Media and Sleep</a:t>
            </a:r>
          </a:p>
        </p:txBody>
      </p:sp>
      <p:sp>
        <p:nvSpPr>
          <p:cNvPr name="TextBox 45" id="45"/>
          <p:cNvSpPr txBox="true"/>
          <p:nvPr/>
        </p:nvSpPr>
        <p:spPr>
          <a:xfrm rot="0">
            <a:off x="2911794" y="3484447"/>
            <a:ext cx="4349102" cy="131821"/>
          </a:xfrm>
          <a:prstGeom prst="rect">
            <a:avLst/>
          </a:prstGeom>
        </p:spPr>
        <p:txBody>
          <a:bodyPr anchor="t" rtlCol="false" tIns="0" lIns="0" bIns="0" rIns="0">
            <a:spAutoFit/>
          </a:bodyPr>
          <a:lstStyle/>
          <a:p>
            <a:pPr algn="ctr">
              <a:lnSpc>
                <a:spcPts val="986"/>
              </a:lnSpc>
            </a:pPr>
            <a:r>
              <a:rPr lang="en-US" sz="822" b="true">
                <a:solidFill>
                  <a:srgbClr val="013973"/>
                </a:solidFill>
                <a:latin typeface="Arial Bold"/>
                <a:ea typeface="Arial Bold"/>
                <a:cs typeface="Arial Bold"/>
                <a:sym typeface="Arial Bold"/>
              </a:rPr>
              <a:t>MODEL 2: Social Media and Conflicts</a:t>
            </a:r>
          </a:p>
        </p:txBody>
      </p:sp>
      <p:sp>
        <p:nvSpPr>
          <p:cNvPr name="TextBox 46" id="46"/>
          <p:cNvSpPr txBox="true"/>
          <p:nvPr/>
        </p:nvSpPr>
        <p:spPr>
          <a:xfrm rot="0">
            <a:off x="5304100" y="2098338"/>
            <a:ext cx="1908249" cy="1076325"/>
          </a:xfrm>
          <a:prstGeom prst="rect">
            <a:avLst/>
          </a:prstGeom>
        </p:spPr>
        <p:txBody>
          <a:bodyPr anchor="t" rtlCol="false" tIns="0" lIns="0" bIns="0" rIns="0">
            <a:spAutoFit/>
          </a:bodyPr>
          <a:lstStyle/>
          <a:p>
            <a:pPr algn="ctr">
              <a:lnSpc>
                <a:spcPts val="1090"/>
              </a:lnSpc>
            </a:pPr>
            <a:r>
              <a:rPr lang="en-US" sz="908" spc="9">
                <a:solidFill>
                  <a:srgbClr val="013973"/>
                </a:solidFill>
                <a:latin typeface="Arial"/>
                <a:ea typeface="Arial"/>
                <a:cs typeface="Arial"/>
                <a:sym typeface="Arial"/>
              </a:rPr>
              <a:t>Model 1 assessed the </a:t>
            </a:r>
            <a:r>
              <a:rPr lang="en-US" b="true" sz="908" spc="9">
                <a:solidFill>
                  <a:srgbClr val="013973"/>
                </a:solidFill>
                <a:latin typeface="Arial Bold"/>
                <a:ea typeface="Arial Bold"/>
                <a:cs typeface="Arial Bold"/>
                <a:sym typeface="Arial Bold"/>
              </a:rPr>
              <a:t>association between average daily social media usage (hrs) and sleep per night.</a:t>
            </a:r>
            <a:r>
              <a:rPr lang="en-US" sz="908" spc="9">
                <a:solidFill>
                  <a:srgbClr val="013973"/>
                </a:solidFill>
                <a:latin typeface="Arial"/>
                <a:ea typeface="Arial"/>
                <a:cs typeface="Arial"/>
                <a:sym typeface="Arial"/>
              </a:rPr>
              <a:t> A negative linear relationship was observed  according to the graph suggesting that </a:t>
            </a:r>
            <a:r>
              <a:rPr lang="en-US" b="true" sz="908" spc="9">
                <a:solidFill>
                  <a:srgbClr val="013973"/>
                </a:solidFill>
                <a:latin typeface="Arial Bold"/>
                <a:ea typeface="Arial Bold"/>
                <a:cs typeface="Arial Bold"/>
                <a:sym typeface="Arial Bold"/>
              </a:rPr>
              <a:t>higher social media usage</a:t>
            </a:r>
            <a:r>
              <a:rPr lang="en-US" sz="908" spc="9">
                <a:solidFill>
                  <a:srgbClr val="013973"/>
                </a:solidFill>
                <a:latin typeface="Arial"/>
                <a:ea typeface="Arial"/>
                <a:cs typeface="Arial"/>
                <a:sym typeface="Arial"/>
              </a:rPr>
              <a:t> is associated with </a:t>
            </a:r>
            <a:r>
              <a:rPr lang="en-US" b="true" sz="908" spc="9">
                <a:solidFill>
                  <a:srgbClr val="013973"/>
                </a:solidFill>
                <a:latin typeface="Arial Bold"/>
                <a:ea typeface="Arial Bold"/>
                <a:cs typeface="Arial Bold"/>
                <a:sym typeface="Arial Bold"/>
              </a:rPr>
              <a:t>fewer hours of sleep</a:t>
            </a:r>
            <a:r>
              <a:rPr lang="en-US" sz="908" spc="9">
                <a:solidFill>
                  <a:srgbClr val="013973"/>
                </a:solidFill>
                <a:latin typeface="Arial"/>
                <a:ea typeface="Arial"/>
                <a:cs typeface="Arial"/>
                <a:sym typeface="Arial"/>
              </a:rPr>
              <a:t> per night.  </a:t>
            </a:r>
          </a:p>
        </p:txBody>
      </p:sp>
      <p:sp>
        <p:nvSpPr>
          <p:cNvPr name="TextBox 47" id="47"/>
          <p:cNvSpPr txBox="true"/>
          <p:nvPr/>
        </p:nvSpPr>
        <p:spPr>
          <a:xfrm rot="0">
            <a:off x="3091721" y="3778834"/>
            <a:ext cx="1857824" cy="1343025"/>
          </a:xfrm>
          <a:prstGeom prst="rect">
            <a:avLst/>
          </a:prstGeom>
        </p:spPr>
        <p:txBody>
          <a:bodyPr anchor="t" rtlCol="false" tIns="0" lIns="0" bIns="0" rIns="0">
            <a:spAutoFit/>
          </a:bodyPr>
          <a:lstStyle/>
          <a:p>
            <a:pPr algn="ctr">
              <a:lnSpc>
                <a:spcPts val="1091"/>
              </a:lnSpc>
            </a:pPr>
            <a:r>
              <a:rPr lang="en-US" sz="909" spc="9">
                <a:solidFill>
                  <a:srgbClr val="013973"/>
                </a:solidFill>
                <a:latin typeface="Arial"/>
                <a:ea typeface="Arial"/>
                <a:cs typeface="Arial"/>
                <a:sym typeface="Arial"/>
              </a:rPr>
              <a:t>Model 2 assessed </a:t>
            </a:r>
            <a:r>
              <a:rPr lang="en-US" b="true" sz="909" spc="9">
                <a:solidFill>
                  <a:srgbClr val="013973"/>
                </a:solidFill>
                <a:latin typeface="Arial Bold"/>
                <a:ea typeface="Arial Bold"/>
                <a:cs typeface="Arial Bold"/>
                <a:sym typeface="Arial Bold"/>
              </a:rPr>
              <a:t>differences in number of conflicts by media usage</a:t>
            </a:r>
            <a:r>
              <a:rPr lang="en-US" sz="909" spc="9">
                <a:solidFill>
                  <a:srgbClr val="013973"/>
                </a:solidFill>
                <a:latin typeface="Arial"/>
                <a:ea typeface="Arial"/>
                <a:cs typeface="Arial"/>
                <a:sym typeface="Arial"/>
              </a:rPr>
              <a:t> level categorized as low, medium or high. The median number of conflicts progressively increase by from the low (2), to medium (3), to high level (4). This indicated that </a:t>
            </a:r>
            <a:r>
              <a:rPr lang="en-US" b="true" sz="909" spc="9">
                <a:solidFill>
                  <a:srgbClr val="013973"/>
                </a:solidFill>
                <a:latin typeface="Arial Bold"/>
                <a:ea typeface="Arial Bold"/>
                <a:cs typeface="Arial Bold"/>
                <a:sym typeface="Arial Bold"/>
              </a:rPr>
              <a:t>higher social media usage level is associated with increased interpersonal conflict</a:t>
            </a:r>
            <a:r>
              <a:rPr lang="en-US" sz="909" spc="9">
                <a:solidFill>
                  <a:srgbClr val="013973"/>
                </a:solidFill>
                <a:latin typeface="Arial"/>
                <a:ea typeface="Arial"/>
                <a:cs typeface="Arial"/>
                <a:sym typeface="Arial"/>
              </a:rPr>
              <a:t>. </a:t>
            </a:r>
          </a:p>
        </p:txBody>
      </p:sp>
      <p:sp>
        <p:nvSpPr>
          <p:cNvPr name="TextBox 48" id="48"/>
          <p:cNvSpPr txBox="true"/>
          <p:nvPr/>
        </p:nvSpPr>
        <p:spPr>
          <a:xfrm rot="0">
            <a:off x="2934701" y="5416374"/>
            <a:ext cx="4349102" cy="131351"/>
          </a:xfrm>
          <a:prstGeom prst="rect">
            <a:avLst/>
          </a:prstGeom>
        </p:spPr>
        <p:txBody>
          <a:bodyPr anchor="t" rtlCol="false" tIns="0" lIns="0" bIns="0" rIns="0">
            <a:spAutoFit/>
          </a:bodyPr>
          <a:lstStyle/>
          <a:p>
            <a:pPr algn="ctr">
              <a:lnSpc>
                <a:spcPts val="986"/>
              </a:lnSpc>
            </a:pPr>
            <a:r>
              <a:rPr lang="en-US" sz="822" b="true">
                <a:solidFill>
                  <a:srgbClr val="013973"/>
                </a:solidFill>
                <a:latin typeface="Arial Bold"/>
                <a:ea typeface="Arial Bold"/>
                <a:cs typeface="Arial Bold"/>
                <a:sym typeface="Arial Bold"/>
              </a:rPr>
              <a:t>MODEL 3: Social Media and Relationship Status </a:t>
            </a:r>
          </a:p>
        </p:txBody>
      </p:sp>
      <p:sp>
        <p:nvSpPr>
          <p:cNvPr name="TextBox 49" id="49"/>
          <p:cNvSpPr txBox="true"/>
          <p:nvPr/>
        </p:nvSpPr>
        <p:spPr>
          <a:xfrm rot="0">
            <a:off x="5304100" y="5633449"/>
            <a:ext cx="1998662" cy="1476375"/>
          </a:xfrm>
          <a:prstGeom prst="rect">
            <a:avLst/>
          </a:prstGeom>
        </p:spPr>
        <p:txBody>
          <a:bodyPr anchor="t" rtlCol="false" tIns="0" lIns="0" bIns="0" rIns="0">
            <a:spAutoFit/>
          </a:bodyPr>
          <a:lstStyle/>
          <a:p>
            <a:pPr algn="ctr">
              <a:lnSpc>
                <a:spcPts val="1091"/>
              </a:lnSpc>
            </a:pPr>
            <a:r>
              <a:rPr lang="en-US" sz="909" spc="9">
                <a:solidFill>
                  <a:srgbClr val="013973"/>
                </a:solidFill>
                <a:latin typeface="Arial"/>
                <a:ea typeface="Arial"/>
                <a:cs typeface="Arial"/>
                <a:sym typeface="Arial"/>
              </a:rPr>
              <a:t>Model 3 explored the distribution of  </a:t>
            </a:r>
            <a:r>
              <a:rPr lang="en-US" b="true" sz="909" spc="9">
                <a:solidFill>
                  <a:srgbClr val="013973"/>
                </a:solidFill>
                <a:latin typeface="Arial Bold"/>
                <a:ea typeface="Arial Bold"/>
                <a:cs typeface="Arial Bold"/>
                <a:sym typeface="Arial Bold"/>
              </a:rPr>
              <a:t>relationship statues by social media usage.</a:t>
            </a:r>
            <a:r>
              <a:rPr lang="en-US" sz="909" spc="9">
                <a:solidFill>
                  <a:srgbClr val="013973"/>
                </a:solidFill>
                <a:latin typeface="Arial"/>
                <a:ea typeface="Arial"/>
                <a:cs typeface="Arial"/>
                <a:sym typeface="Arial"/>
              </a:rPr>
              <a:t> Students in the high usage level were more likely to report being single than the medium and low usage groups. The low usage group had the highest number of individuals that were in a relationship. This suggests that </a:t>
            </a:r>
            <a:r>
              <a:rPr lang="en-US" b="true" sz="909" spc="9">
                <a:solidFill>
                  <a:srgbClr val="013973"/>
                </a:solidFill>
                <a:latin typeface="Arial Bold"/>
                <a:ea typeface="Arial Bold"/>
                <a:cs typeface="Arial Bold"/>
                <a:sym typeface="Arial Bold"/>
              </a:rPr>
              <a:t>heavier social media usage could be associated with differences relationship status</a:t>
            </a:r>
            <a:r>
              <a:rPr lang="en-US" sz="909" spc="9">
                <a:solidFill>
                  <a:srgbClr val="013973"/>
                </a:solidFill>
                <a:latin typeface="Arial"/>
                <a:ea typeface="Arial"/>
                <a:cs typeface="Arial"/>
                <a:sym typeface="Arial"/>
              </a:rPr>
              <a:t>. </a:t>
            </a:r>
          </a:p>
        </p:txBody>
      </p:sp>
      <p:grpSp>
        <p:nvGrpSpPr>
          <p:cNvPr name="Group 50" id="50"/>
          <p:cNvGrpSpPr/>
          <p:nvPr/>
        </p:nvGrpSpPr>
        <p:grpSpPr>
          <a:xfrm rot="0">
            <a:off x="7459577" y="1389806"/>
            <a:ext cx="2101391" cy="286884"/>
            <a:chOff x="0" y="0"/>
            <a:chExt cx="2801854" cy="382513"/>
          </a:xfrm>
        </p:grpSpPr>
        <p:sp>
          <p:nvSpPr>
            <p:cNvPr name="Freeform 51" id="51"/>
            <p:cNvSpPr/>
            <p:nvPr/>
          </p:nvSpPr>
          <p:spPr>
            <a:xfrm flipH="false" flipV="false" rot="0">
              <a:off x="0" y="0"/>
              <a:ext cx="2801854" cy="382544"/>
            </a:xfrm>
            <a:custGeom>
              <a:avLst/>
              <a:gdLst/>
              <a:ahLst/>
              <a:cxnLst/>
              <a:rect r="r" b="b" t="t" l="l"/>
              <a:pathLst>
                <a:path h="382544" w="2801854">
                  <a:moveTo>
                    <a:pt x="0" y="0"/>
                  </a:moveTo>
                  <a:lnTo>
                    <a:pt x="2801854" y="0"/>
                  </a:lnTo>
                  <a:lnTo>
                    <a:pt x="2801854" y="382544"/>
                  </a:lnTo>
                  <a:lnTo>
                    <a:pt x="0" y="382544"/>
                  </a:lnTo>
                  <a:close/>
                </a:path>
              </a:pathLst>
            </a:custGeom>
            <a:solidFill>
              <a:srgbClr val="F2A900"/>
            </a:solidFill>
            <a:ln w="12700">
              <a:solidFill>
                <a:srgbClr val="000000"/>
              </a:solidFill>
            </a:ln>
          </p:spPr>
        </p:sp>
      </p:grpSp>
      <p:grpSp>
        <p:nvGrpSpPr>
          <p:cNvPr name="Group 52" id="52"/>
          <p:cNvGrpSpPr/>
          <p:nvPr/>
        </p:nvGrpSpPr>
        <p:grpSpPr>
          <a:xfrm rot="0">
            <a:off x="7475604" y="1255916"/>
            <a:ext cx="2085364" cy="542029"/>
            <a:chOff x="0" y="0"/>
            <a:chExt cx="2780485" cy="722705"/>
          </a:xfrm>
        </p:grpSpPr>
        <p:sp>
          <p:nvSpPr>
            <p:cNvPr name="Freeform 53" id="53"/>
            <p:cNvSpPr/>
            <p:nvPr/>
          </p:nvSpPr>
          <p:spPr>
            <a:xfrm flipH="false" flipV="false" rot="0">
              <a:off x="0" y="0"/>
              <a:ext cx="2780485" cy="722705"/>
            </a:xfrm>
            <a:custGeom>
              <a:avLst/>
              <a:gdLst/>
              <a:ahLst/>
              <a:cxnLst/>
              <a:rect r="r" b="b" t="t" l="l"/>
              <a:pathLst>
                <a:path h="722705" w="2780485">
                  <a:moveTo>
                    <a:pt x="0" y="0"/>
                  </a:moveTo>
                  <a:lnTo>
                    <a:pt x="2780485" y="0"/>
                  </a:lnTo>
                  <a:lnTo>
                    <a:pt x="2780485" y="722705"/>
                  </a:lnTo>
                  <a:lnTo>
                    <a:pt x="0" y="722705"/>
                  </a:lnTo>
                  <a:close/>
                </a:path>
              </a:pathLst>
            </a:custGeom>
            <a:solidFill>
              <a:srgbClr val="000000">
                <a:alpha val="0"/>
              </a:srgbClr>
            </a:solidFill>
          </p:spPr>
        </p:sp>
        <p:sp>
          <p:nvSpPr>
            <p:cNvPr name="TextBox 54" id="54"/>
            <p:cNvSpPr txBox="true"/>
            <p:nvPr/>
          </p:nvSpPr>
          <p:spPr>
            <a:xfrm>
              <a:off x="0" y="-28575"/>
              <a:ext cx="2780485" cy="751280"/>
            </a:xfrm>
            <a:prstGeom prst="rect">
              <a:avLst/>
            </a:prstGeom>
          </p:spPr>
          <p:txBody>
            <a:bodyPr anchor="ctr" rtlCol="false" tIns="0" lIns="0" bIns="0" rIns="0"/>
            <a:lstStyle/>
            <a:p>
              <a:pPr algn="ctr">
                <a:lnSpc>
                  <a:spcPts val="1334"/>
                </a:lnSpc>
              </a:pPr>
              <a:r>
                <a:rPr lang="en-US" b="true" sz="1112" spc="10">
                  <a:solidFill>
                    <a:srgbClr val="000000"/>
                  </a:solidFill>
                  <a:latin typeface="Calibri (MS) Bold"/>
                  <a:ea typeface="Calibri (MS) Bold"/>
                  <a:cs typeface="Calibri (MS) Bold"/>
                  <a:sym typeface="Calibri (MS) Bold"/>
                </a:rPr>
                <a:t>Conclusion/ Future Directions </a:t>
              </a:r>
            </a:p>
          </p:txBody>
        </p:sp>
      </p:grpSp>
      <p:grpSp>
        <p:nvGrpSpPr>
          <p:cNvPr name="Group 55" id="55"/>
          <p:cNvGrpSpPr/>
          <p:nvPr/>
        </p:nvGrpSpPr>
        <p:grpSpPr>
          <a:xfrm rot="0">
            <a:off x="7463363" y="5521642"/>
            <a:ext cx="2098720" cy="286884"/>
            <a:chOff x="0" y="0"/>
            <a:chExt cx="2798293" cy="382513"/>
          </a:xfrm>
        </p:grpSpPr>
        <p:sp>
          <p:nvSpPr>
            <p:cNvPr name="Freeform 56" id="56"/>
            <p:cNvSpPr/>
            <p:nvPr/>
          </p:nvSpPr>
          <p:spPr>
            <a:xfrm flipH="false" flipV="false" rot="0">
              <a:off x="0" y="0"/>
              <a:ext cx="2798293" cy="382544"/>
            </a:xfrm>
            <a:custGeom>
              <a:avLst/>
              <a:gdLst/>
              <a:ahLst/>
              <a:cxnLst/>
              <a:rect r="r" b="b" t="t" l="l"/>
              <a:pathLst>
                <a:path h="382544" w="2798293">
                  <a:moveTo>
                    <a:pt x="0" y="0"/>
                  </a:moveTo>
                  <a:lnTo>
                    <a:pt x="2798293" y="0"/>
                  </a:lnTo>
                  <a:lnTo>
                    <a:pt x="2798293" y="382544"/>
                  </a:lnTo>
                  <a:lnTo>
                    <a:pt x="0" y="382544"/>
                  </a:lnTo>
                  <a:close/>
                </a:path>
              </a:pathLst>
            </a:custGeom>
            <a:solidFill>
              <a:srgbClr val="F2A900"/>
            </a:solidFill>
            <a:ln w="12700">
              <a:solidFill>
                <a:srgbClr val="000000"/>
              </a:solidFill>
            </a:ln>
          </p:spPr>
        </p:sp>
      </p:grpSp>
      <p:grpSp>
        <p:nvGrpSpPr>
          <p:cNvPr name="Group 57" id="57"/>
          <p:cNvGrpSpPr/>
          <p:nvPr/>
        </p:nvGrpSpPr>
        <p:grpSpPr>
          <a:xfrm rot="0">
            <a:off x="7442755" y="5394070"/>
            <a:ext cx="2152205" cy="542029"/>
            <a:chOff x="0" y="0"/>
            <a:chExt cx="2869607" cy="722705"/>
          </a:xfrm>
        </p:grpSpPr>
        <p:sp>
          <p:nvSpPr>
            <p:cNvPr name="Freeform 58" id="58"/>
            <p:cNvSpPr/>
            <p:nvPr/>
          </p:nvSpPr>
          <p:spPr>
            <a:xfrm flipH="false" flipV="false" rot="0">
              <a:off x="0" y="0"/>
              <a:ext cx="2869607" cy="722705"/>
            </a:xfrm>
            <a:custGeom>
              <a:avLst/>
              <a:gdLst/>
              <a:ahLst/>
              <a:cxnLst/>
              <a:rect r="r" b="b" t="t" l="l"/>
              <a:pathLst>
                <a:path h="722705" w="2869607">
                  <a:moveTo>
                    <a:pt x="0" y="0"/>
                  </a:moveTo>
                  <a:lnTo>
                    <a:pt x="2869607" y="0"/>
                  </a:lnTo>
                  <a:lnTo>
                    <a:pt x="2869607" y="722705"/>
                  </a:lnTo>
                  <a:lnTo>
                    <a:pt x="0" y="722705"/>
                  </a:lnTo>
                  <a:close/>
                </a:path>
              </a:pathLst>
            </a:custGeom>
            <a:solidFill>
              <a:srgbClr val="000000">
                <a:alpha val="0"/>
              </a:srgbClr>
            </a:solidFill>
          </p:spPr>
        </p:sp>
        <p:sp>
          <p:nvSpPr>
            <p:cNvPr name="TextBox 59" id="59"/>
            <p:cNvSpPr txBox="true"/>
            <p:nvPr/>
          </p:nvSpPr>
          <p:spPr>
            <a:xfrm>
              <a:off x="0" y="-28575"/>
              <a:ext cx="2869607" cy="751280"/>
            </a:xfrm>
            <a:prstGeom prst="rect">
              <a:avLst/>
            </a:prstGeom>
          </p:spPr>
          <p:txBody>
            <a:bodyPr anchor="ctr" rtlCol="false" tIns="0" lIns="0" bIns="0" rIns="0"/>
            <a:lstStyle/>
            <a:p>
              <a:pPr algn="ctr">
                <a:lnSpc>
                  <a:spcPts val="1334"/>
                </a:lnSpc>
              </a:pPr>
              <a:r>
                <a:rPr lang="en-US" b="true" sz="1112" spc="10">
                  <a:solidFill>
                    <a:srgbClr val="000000"/>
                  </a:solidFill>
                  <a:latin typeface="Calibri (MS) Bold"/>
                  <a:ea typeface="Calibri (MS) Bold"/>
                  <a:cs typeface="Calibri (MS) Bold"/>
                  <a:sym typeface="Calibri (MS) Bold"/>
                </a:rPr>
                <a:t>Citations</a:t>
              </a:r>
            </a:p>
          </p:txBody>
        </p:sp>
      </p:grpSp>
      <p:sp>
        <p:nvSpPr>
          <p:cNvPr name="TextBox 60" id="60"/>
          <p:cNvSpPr txBox="true"/>
          <p:nvPr/>
        </p:nvSpPr>
        <p:spPr>
          <a:xfrm rot="0">
            <a:off x="7514572" y="5000369"/>
            <a:ext cx="1959378" cy="121496"/>
          </a:xfrm>
          <a:prstGeom prst="rect">
            <a:avLst/>
          </a:prstGeom>
        </p:spPr>
        <p:txBody>
          <a:bodyPr anchor="t" rtlCol="false" tIns="0" lIns="0" bIns="0" rIns="0">
            <a:spAutoFit/>
          </a:bodyPr>
          <a:lstStyle/>
          <a:p>
            <a:pPr algn="l">
              <a:lnSpc>
                <a:spcPts val="983"/>
              </a:lnSpc>
            </a:pPr>
            <a:r>
              <a:rPr lang="en-US" b="true" sz="819">
                <a:solidFill>
                  <a:srgbClr val="013973"/>
                </a:solidFill>
                <a:latin typeface="Montserrat Bold"/>
                <a:ea typeface="Montserrat Bold"/>
                <a:cs typeface="Montserrat Bold"/>
                <a:sym typeface="Montserrat Bold"/>
              </a:rPr>
              <a:t>Limitations</a:t>
            </a:r>
          </a:p>
        </p:txBody>
      </p:sp>
      <p:sp>
        <p:nvSpPr>
          <p:cNvPr name="TextBox 61" id="61"/>
          <p:cNvSpPr txBox="true"/>
          <p:nvPr/>
        </p:nvSpPr>
        <p:spPr>
          <a:xfrm rot="0">
            <a:off x="7455557" y="6047198"/>
            <a:ext cx="2087520" cy="1068919"/>
          </a:xfrm>
          <a:prstGeom prst="rect">
            <a:avLst/>
          </a:prstGeom>
        </p:spPr>
        <p:txBody>
          <a:bodyPr anchor="t" rtlCol="false" tIns="0" lIns="0" bIns="0" rIns="0">
            <a:spAutoFit/>
          </a:bodyPr>
          <a:lstStyle/>
          <a:p>
            <a:pPr algn="l" marL="118745" indent="-59373" lvl="1">
              <a:lnSpc>
                <a:spcPts val="660"/>
              </a:lnSpc>
              <a:buFont typeface="Arial"/>
              <a:buChar char="•"/>
            </a:pPr>
            <a:r>
              <a:rPr lang="en-US" sz="550" spc="5">
                <a:solidFill>
                  <a:srgbClr val="013973"/>
                </a:solidFill>
                <a:latin typeface="Arial"/>
                <a:ea typeface="Arial"/>
                <a:cs typeface="Arial"/>
                <a:sym typeface="Arial"/>
              </a:rPr>
              <a:t>Lemola, S., Perkinson-Gloor, N., Brand, S., Dewald-Kaufmann, J. F., &amp; Grob, A. (2015). Adolescents’ electronic media use at night, sleep disturbance, and depressive symptoms. Journal of Youth and Adolescence, 44(2), 405–418.</a:t>
            </a:r>
          </a:p>
          <a:p>
            <a:pPr algn="l" marL="118745" indent="-59373" lvl="1">
              <a:lnSpc>
                <a:spcPts val="660"/>
              </a:lnSpc>
              <a:buFont typeface="Arial"/>
              <a:buChar char="•"/>
            </a:pPr>
            <a:r>
              <a:rPr lang="en-US" sz="550" spc="5">
                <a:solidFill>
                  <a:srgbClr val="013973"/>
                </a:solidFill>
                <a:latin typeface="Arial"/>
                <a:ea typeface="Arial"/>
                <a:cs typeface="Arial"/>
                <a:sym typeface="Arial"/>
              </a:rPr>
              <a:t> </a:t>
            </a:r>
            <a:r>
              <a:rPr lang="en-US" sz="550" spc="5">
                <a:solidFill>
                  <a:srgbClr val="013973"/>
                </a:solidFill>
                <a:latin typeface="Arial"/>
                <a:ea typeface="Arial"/>
                <a:cs typeface="Arial"/>
                <a:sym typeface="Arial"/>
              </a:rPr>
              <a:t>Scott, H., Biello, S. M., &amp; Woods, H. C. (2019). Social media use and adolescent sleep patterns. BMC Public Health, 19, 1238.</a:t>
            </a:r>
          </a:p>
          <a:p>
            <a:pPr algn="l" marL="118745" indent="-59373" lvl="1">
              <a:lnSpc>
                <a:spcPts val="660"/>
              </a:lnSpc>
              <a:buFont typeface="Arial"/>
              <a:buChar char="•"/>
            </a:pPr>
            <a:r>
              <a:rPr lang="en-US" sz="550" spc="5">
                <a:solidFill>
                  <a:srgbClr val="013973"/>
                </a:solidFill>
                <a:latin typeface="Arial"/>
                <a:ea typeface="Arial"/>
                <a:cs typeface="Arial"/>
                <a:sym typeface="Arial"/>
              </a:rPr>
              <a:t> Clayton, R. B., Nagurney, A., &amp; Smith, J. R. (2013). Problematic social media use and romantic relationship outcomes. Computers in Human Behavior, 29, 1–10.</a:t>
            </a:r>
          </a:p>
          <a:p>
            <a:pPr algn="l" marL="118745" indent="-59373" lvl="1">
              <a:lnSpc>
                <a:spcPts val="660"/>
              </a:lnSpc>
              <a:buFont typeface="Arial"/>
              <a:buChar char="•"/>
            </a:pPr>
            <a:r>
              <a:rPr lang="en-US" sz="550" spc="5">
                <a:solidFill>
                  <a:srgbClr val="013973"/>
                </a:solidFill>
                <a:latin typeface="Arial"/>
                <a:ea typeface="Arial"/>
                <a:cs typeface="Arial"/>
                <a:sym typeface="Arial"/>
              </a:rPr>
              <a:t>https://www.kaggle.com/datasets/adilshamim8/social-media-addiction-vs-relationships</a:t>
            </a:r>
          </a:p>
        </p:txBody>
      </p:sp>
      <p:sp>
        <p:nvSpPr>
          <p:cNvPr name="TextBox 62" id="62"/>
          <p:cNvSpPr txBox="true"/>
          <p:nvPr/>
        </p:nvSpPr>
        <p:spPr>
          <a:xfrm rot="0">
            <a:off x="7525102" y="3655648"/>
            <a:ext cx="1986880" cy="1297097"/>
          </a:xfrm>
          <a:prstGeom prst="rect">
            <a:avLst/>
          </a:prstGeom>
        </p:spPr>
        <p:txBody>
          <a:bodyPr anchor="t" rtlCol="false" tIns="0" lIns="0" bIns="0" rIns="0">
            <a:spAutoFit/>
          </a:bodyPr>
          <a:lstStyle/>
          <a:p>
            <a:pPr algn="l">
              <a:lnSpc>
                <a:spcPts val="948"/>
              </a:lnSpc>
            </a:pPr>
            <a:r>
              <a:rPr lang="en-US" sz="790" spc="7">
                <a:solidFill>
                  <a:srgbClr val="013973"/>
                </a:solidFill>
                <a:latin typeface="Arial"/>
                <a:ea typeface="Arial"/>
                <a:cs typeface="Arial"/>
                <a:sym typeface="Arial"/>
              </a:rPr>
              <a:t>Future research should attempt to collect longitudinal data following students over extended periods of time. This could assess whether social media usage can be a predictor of health outcomes rather than reflecting simple correlations. Additionally, since social media platforms vary in their offerings and how they are utilized future research could determine whether certain platforms are associated with particular health outcomes. </a:t>
            </a:r>
          </a:p>
        </p:txBody>
      </p:sp>
      <p:sp>
        <p:nvSpPr>
          <p:cNvPr name="TextBox 63" id="63"/>
          <p:cNvSpPr txBox="true"/>
          <p:nvPr/>
        </p:nvSpPr>
        <p:spPr>
          <a:xfrm rot="0">
            <a:off x="7536164" y="5131391"/>
            <a:ext cx="1965387" cy="243629"/>
          </a:xfrm>
          <a:prstGeom prst="rect">
            <a:avLst/>
          </a:prstGeom>
        </p:spPr>
        <p:txBody>
          <a:bodyPr anchor="t" rtlCol="false" tIns="0" lIns="0" bIns="0" rIns="0">
            <a:spAutoFit/>
          </a:bodyPr>
          <a:lstStyle/>
          <a:p>
            <a:pPr algn="l" marL="170562" indent="-85281" lvl="1">
              <a:lnSpc>
                <a:spcPts val="948"/>
              </a:lnSpc>
              <a:buFont typeface="Arial"/>
              <a:buChar char="•"/>
            </a:pPr>
            <a:r>
              <a:rPr lang="en-US" sz="790" spc="7">
                <a:solidFill>
                  <a:srgbClr val="013973"/>
                </a:solidFill>
                <a:latin typeface="Arial"/>
                <a:ea typeface="Arial"/>
                <a:cs typeface="Arial"/>
                <a:sym typeface="Arial"/>
              </a:rPr>
              <a:t>Cross-sectional data </a:t>
            </a:r>
          </a:p>
          <a:p>
            <a:pPr algn="l" marL="170562" indent="-85281" lvl="1">
              <a:lnSpc>
                <a:spcPts val="948"/>
              </a:lnSpc>
              <a:buFont typeface="Arial"/>
              <a:buChar char="•"/>
            </a:pPr>
            <a:r>
              <a:rPr lang="en-US" sz="790" spc="7">
                <a:solidFill>
                  <a:srgbClr val="013973"/>
                </a:solidFill>
                <a:latin typeface="Arial"/>
                <a:ea typeface="Arial"/>
                <a:cs typeface="Arial"/>
                <a:sym typeface="Arial"/>
              </a:rPr>
              <a:t>Self-reported measures</a:t>
            </a:r>
          </a:p>
        </p:txBody>
      </p:sp>
      <p:sp>
        <p:nvSpPr>
          <p:cNvPr name="TextBox 64" id="64"/>
          <p:cNvSpPr txBox="true"/>
          <p:nvPr/>
        </p:nvSpPr>
        <p:spPr>
          <a:xfrm rot="0">
            <a:off x="7524590" y="1894907"/>
            <a:ext cx="1987392" cy="1531193"/>
          </a:xfrm>
          <a:prstGeom prst="rect">
            <a:avLst/>
          </a:prstGeom>
        </p:spPr>
        <p:txBody>
          <a:bodyPr anchor="t" rtlCol="false" tIns="0" lIns="0" bIns="0" rIns="0">
            <a:spAutoFit/>
          </a:bodyPr>
          <a:lstStyle/>
          <a:p>
            <a:pPr algn="l" marL="170561" indent="-85280" lvl="1">
              <a:lnSpc>
                <a:spcPts val="947"/>
              </a:lnSpc>
              <a:buFont typeface="Arial"/>
              <a:buChar char="•"/>
            </a:pPr>
            <a:r>
              <a:rPr lang="en-US" sz="789" spc="7">
                <a:solidFill>
                  <a:srgbClr val="013973"/>
                </a:solidFill>
                <a:latin typeface="Arial"/>
                <a:ea typeface="Arial"/>
                <a:cs typeface="Arial"/>
                <a:sym typeface="Arial"/>
              </a:rPr>
              <a:t>There is a </a:t>
            </a:r>
            <a:r>
              <a:rPr lang="en-US" b="true" sz="789" spc="7">
                <a:solidFill>
                  <a:srgbClr val="013973"/>
                </a:solidFill>
                <a:latin typeface="Arial Bold"/>
                <a:ea typeface="Arial Bold"/>
                <a:cs typeface="Arial Bold"/>
                <a:sym typeface="Arial Bold"/>
              </a:rPr>
              <a:t>negative association</a:t>
            </a:r>
            <a:r>
              <a:rPr lang="en-US" sz="789" spc="7">
                <a:solidFill>
                  <a:srgbClr val="013973"/>
                </a:solidFill>
                <a:latin typeface="Arial"/>
                <a:ea typeface="Arial"/>
                <a:cs typeface="Arial"/>
                <a:sym typeface="Arial"/>
              </a:rPr>
              <a:t> between </a:t>
            </a:r>
            <a:r>
              <a:rPr lang="en-US" b="true" sz="789" spc="7">
                <a:solidFill>
                  <a:srgbClr val="013973"/>
                </a:solidFill>
                <a:latin typeface="Arial Bold"/>
                <a:ea typeface="Arial Bold"/>
                <a:cs typeface="Arial Bold"/>
                <a:sym typeface="Arial Bold"/>
              </a:rPr>
              <a:t>hours of social media </a:t>
            </a:r>
            <a:r>
              <a:rPr lang="en-US" sz="789" spc="7">
                <a:solidFill>
                  <a:srgbClr val="013973"/>
                </a:solidFill>
                <a:latin typeface="Arial"/>
                <a:ea typeface="Arial"/>
                <a:cs typeface="Arial"/>
                <a:sym typeface="Arial"/>
              </a:rPr>
              <a:t>usage and </a:t>
            </a:r>
            <a:r>
              <a:rPr lang="en-US" b="true" sz="789" spc="7">
                <a:solidFill>
                  <a:srgbClr val="013973"/>
                </a:solidFill>
                <a:latin typeface="Arial Bold"/>
                <a:ea typeface="Arial Bold"/>
                <a:cs typeface="Arial Bold"/>
                <a:sym typeface="Arial Bold"/>
              </a:rPr>
              <a:t>hours of sleep</a:t>
            </a:r>
            <a:r>
              <a:rPr lang="en-US" sz="789" spc="7">
                <a:solidFill>
                  <a:srgbClr val="013973"/>
                </a:solidFill>
                <a:latin typeface="Arial"/>
                <a:ea typeface="Arial"/>
                <a:cs typeface="Arial"/>
                <a:sym typeface="Arial"/>
              </a:rPr>
              <a:t> per night (</a:t>
            </a:r>
            <a:r>
              <a:rPr lang="en-US" b="true" sz="789" spc="7">
                <a:solidFill>
                  <a:srgbClr val="013973"/>
                </a:solidFill>
                <a:latin typeface="Arial Bold"/>
                <a:ea typeface="Arial Bold"/>
                <a:cs typeface="Arial Bold"/>
                <a:sym typeface="Arial Bold"/>
              </a:rPr>
              <a:t>Model 1</a:t>
            </a:r>
            <a:r>
              <a:rPr lang="en-US" sz="789" spc="7">
                <a:solidFill>
                  <a:srgbClr val="013973"/>
                </a:solidFill>
                <a:latin typeface="Arial"/>
                <a:ea typeface="Arial"/>
                <a:cs typeface="Arial"/>
                <a:sym typeface="Arial"/>
              </a:rPr>
              <a:t>)</a:t>
            </a:r>
          </a:p>
          <a:p>
            <a:pPr algn="l" marL="341121" indent="-113707" lvl="2">
              <a:lnSpc>
                <a:spcPts val="947"/>
              </a:lnSpc>
              <a:buFont typeface="Arial"/>
              <a:buChar char="⚬"/>
            </a:pPr>
            <a:r>
              <a:rPr lang="en-US" sz="789" spc="7">
                <a:solidFill>
                  <a:srgbClr val="013973"/>
                </a:solidFill>
                <a:latin typeface="Arial"/>
                <a:ea typeface="Arial"/>
                <a:cs typeface="Arial"/>
                <a:sym typeface="Arial"/>
              </a:rPr>
              <a:t>On average, higher social media usage was associated with lower hours of sleep of night</a:t>
            </a:r>
          </a:p>
          <a:p>
            <a:pPr algn="l" marL="170561" indent="-85280" lvl="1">
              <a:lnSpc>
                <a:spcPts val="947"/>
              </a:lnSpc>
              <a:buFont typeface="Arial"/>
              <a:buChar char="•"/>
            </a:pPr>
            <a:r>
              <a:rPr lang="en-US" sz="789" spc="7">
                <a:solidFill>
                  <a:srgbClr val="013973"/>
                </a:solidFill>
                <a:latin typeface="Arial"/>
                <a:ea typeface="Arial"/>
                <a:cs typeface="Arial"/>
                <a:sym typeface="Arial"/>
              </a:rPr>
              <a:t>There is a </a:t>
            </a:r>
            <a:r>
              <a:rPr lang="en-US" b="true" sz="789" spc="7">
                <a:solidFill>
                  <a:srgbClr val="013973"/>
                </a:solidFill>
                <a:latin typeface="Arial Bold"/>
                <a:ea typeface="Arial Bold"/>
                <a:cs typeface="Arial Bold"/>
                <a:sym typeface="Arial Bold"/>
              </a:rPr>
              <a:t>positive association </a:t>
            </a:r>
            <a:r>
              <a:rPr lang="en-US" sz="789" spc="7">
                <a:solidFill>
                  <a:srgbClr val="013973"/>
                </a:solidFill>
                <a:latin typeface="Arial"/>
                <a:ea typeface="Arial"/>
                <a:cs typeface="Arial"/>
                <a:sym typeface="Arial"/>
              </a:rPr>
              <a:t>between </a:t>
            </a:r>
            <a:r>
              <a:rPr lang="en-US" b="true" sz="789" spc="7">
                <a:solidFill>
                  <a:srgbClr val="013973"/>
                </a:solidFill>
                <a:latin typeface="Arial Bold"/>
                <a:ea typeface="Arial Bold"/>
                <a:cs typeface="Arial Bold"/>
                <a:sym typeface="Arial Bold"/>
              </a:rPr>
              <a:t>hours of social media</a:t>
            </a:r>
            <a:r>
              <a:rPr lang="en-US" sz="789" spc="7">
                <a:solidFill>
                  <a:srgbClr val="013973"/>
                </a:solidFill>
                <a:latin typeface="Arial"/>
                <a:ea typeface="Arial"/>
                <a:cs typeface="Arial"/>
                <a:sym typeface="Arial"/>
              </a:rPr>
              <a:t> usage and number of </a:t>
            </a:r>
            <a:r>
              <a:rPr lang="en-US" b="true" sz="789" spc="7">
                <a:solidFill>
                  <a:srgbClr val="013973"/>
                </a:solidFill>
                <a:latin typeface="Arial Bold"/>
                <a:ea typeface="Arial Bold"/>
                <a:cs typeface="Arial Bold"/>
                <a:sym typeface="Arial Bold"/>
              </a:rPr>
              <a:t>social-media related conflicts</a:t>
            </a:r>
            <a:r>
              <a:rPr lang="en-US" sz="789" spc="7">
                <a:solidFill>
                  <a:srgbClr val="013973"/>
                </a:solidFill>
                <a:latin typeface="Arial"/>
                <a:ea typeface="Arial"/>
                <a:cs typeface="Arial"/>
                <a:sym typeface="Arial"/>
              </a:rPr>
              <a:t> (</a:t>
            </a:r>
            <a:r>
              <a:rPr lang="en-US" b="true" sz="789" spc="7">
                <a:solidFill>
                  <a:srgbClr val="013973"/>
                </a:solidFill>
                <a:latin typeface="Arial Bold"/>
                <a:ea typeface="Arial Bold"/>
                <a:cs typeface="Arial Bold"/>
                <a:sym typeface="Arial Bold"/>
              </a:rPr>
              <a:t>Model 2</a:t>
            </a:r>
            <a:r>
              <a:rPr lang="en-US" sz="789" spc="7">
                <a:solidFill>
                  <a:srgbClr val="013973"/>
                </a:solidFill>
                <a:latin typeface="Arial"/>
                <a:ea typeface="Arial"/>
                <a:cs typeface="Arial"/>
                <a:sym typeface="Arial"/>
              </a:rPr>
              <a:t>)</a:t>
            </a:r>
          </a:p>
          <a:p>
            <a:pPr algn="l" marL="341121" indent="-113707" lvl="2">
              <a:lnSpc>
                <a:spcPts val="947"/>
              </a:lnSpc>
              <a:buFont typeface="Arial"/>
              <a:buChar char="⚬"/>
            </a:pPr>
            <a:r>
              <a:rPr lang="en-US" sz="789" spc="7">
                <a:solidFill>
                  <a:srgbClr val="013973"/>
                </a:solidFill>
                <a:latin typeface="Arial"/>
                <a:ea typeface="Arial"/>
                <a:cs typeface="Arial"/>
                <a:sym typeface="Arial"/>
              </a:rPr>
              <a:t>Students who spent more time on social media had more conflicts than those who did not</a:t>
            </a:r>
          </a:p>
        </p:txBody>
      </p:sp>
      <p:grpSp>
        <p:nvGrpSpPr>
          <p:cNvPr name="Group 65" id="65"/>
          <p:cNvGrpSpPr/>
          <p:nvPr/>
        </p:nvGrpSpPr>
        <p:grpSpPr>
          <a:xfrm rot="0">
            <a:off x="268966" y="717043"/>
            <a:ext cx="817523" cy="230192"/>
            <a:chOff x="0" y="0"/>
            <a:chExt cx="1090031" cy="306923"/>
          </a:xfrm>
        </p:grpSpPr>
        <p:sp>
          <p:nvSpPr>
            <p:cNvPr name="TextBox 66" id="66"/>
            <p:cNvSpPr txBox="true"/>
            <p:nvPr/>
          </p:nvSpPr>
          <p:spPr>
            <a:xfrm rot="0">
              <a:off x="0" y="-9525"/>
              <a:ext cx="339118" cy="316448"/>
            </a:xfrm>
            <a:prstGeom prst="rect">
              <a:avLst/>
            </a:prstGeom>
          </p:spPr>
          <p:txBody>
            <a:bodyPr anchor="t" rtlCol="false" tIns="0" lIns="0" bIns="0" rIns="0">
              <a:spAutoFit/>
            </a:bodyPr>
            <a:lstStyle/>
            <a:p>
              <a:pPr algn="ctr">
                <a:lnSpc>
                  <a:spcPts val="1877"/>
                </a:lnSpc>
                <a:spcBef>
                  <a:spcPct val="0"/>
                </a:spcBef>
              </a:pPr>
              <a:r>
                <a:rPr lang="en-US" sz="1564" spc="14">
                  <a:solidFill>
                    <a:srgbClr val="FFFFFF"/>
                  </a:solidFill>
                  <a:latin typeface="Eczar"/>
                  <a:ea typeface="Eczar"/>
                  <a:cs typeface="Eczar"/>
                  <a:sym typeface="Eczar"/>
                </a:rPr>
                <a:t>E</a:t>
              </a:r>
            </a:p>
          </p:txBody>
        </p:sp>
        <p:sp>
          <p:nvSpPr>
            <p:cNvPr name="TextBox 67" id="67"/>
            <p:cNvSpPr txBox="true"/>
            <p:nvPr/>
          </p:nvSpPr>
          <p:spPr>
            <a:xfrm rot="0">
              <a:off x="44026" y="12398"/>
              <a:ext cx="1046005" cy="283564"/>
            </a:xfrm>
            <a:prstGeom prst="rect">
              <a:avLst/>
            </a:prstGeom>
          </p:spPr>
          <p:txBody>
            <a:bodyPr anchor="t" rtlCol="false" tIns="0" lIns="0" bIns="0" rIns="0">
              <a:spAutoFit/>
            </a:bodyPr>
            <a:lstStyle/>
            <a:p>
              <a:pPr algn="ctr">
                <a:lnSpc>
                  <a:spcPts val="1669"/>
                </a:lnSpc>
                <a:spcBef>
                  <a:spcPct val="0"/>
                </a:spcBef>
              </a:pPr>
              <a:r>
                <a:rPr lang="en-US" sz="1391" spc="12">
                  <a:solidFill>
                    <a:srgbClr val="FFFFFF"/>
                  </a:solidFill>
                  <a:latin typeface="Eczar"/>
                  <a:ea typeface="Eczar"/>
                  <a:cs typeface="Eczar"/>
                  <a:sym typeface="Eczar"/>
                </a:rPr>
                <a:t>MORY</a:t>
              </a:r>
            </a:p>
          </p:txBody>
        </p:sp>
      </p:grpSp>
      <p:sp>
        <p:nvSpPr>
          <p:cNvPr name="TextBox 68" id="68"/>
          <p:cNvSpPr txBox="true"/>
          <p:nvPr/>
        </p:nvSpPr>
        <p:spPr>
          <a:xfrm rot="0">
            <a:off x="0" y="919574"/>
            <a:ext cx="1285053" cy="246628"/>
          </a:xfrm>
          <a:prstGeom prst="rect">
            <a:avLst/>
          </a:prstGeom>
        </p:spPr>
        <p:txBody>
          <a:bodyPr anchor="t" rtlCol="false" tIns="0" lIns="0" bIns="0" rIns="0">
            <a:spAutoFit/>
          </a:bodyPr>
          <a:lstStyle/>
          <a:p>
            <a:pPr algn="ctr">
              <a:lnSpc>
                <a:spcPts val="1035"/>
              </a:lnSpc>
            </a:pPr>
            <a:r>
              <a:rPr lang="en-US" sz="863" i="true">
                <a:solidFill>
                  <a:srgbClr val="FFFFFF"/>
                </a:solidFill>
                <a:latin typeface="Montserrat Italics"/>
                <a:ea typeface="Montserrat Italics"/>
                <a:cs typeface="Montserrat Italics"/>
                <a:sym typeface="Montserrat Italics"/>
              </a:rPr>
              <a:t>Rollins School of</a:t>
            </a:r>
          </a:p>
          <a:p>
            <a:pPr algn="ctr">
              <a:lnSpc>
                <a:spcPts val="1035"/>
              </a:lnSpc>
            </a:pPr>
            <a:r>
              <a:rPr lang="en-US" sz="863" i="true">
                <a:solidFill>
                  <a:srgbClr val="FFFFFF"/>
                </a:solidFill>
                <a:latin typeface="Montserrat Italics"/>
                <a:ea typeface="Montserrat Italics"/>
                <a:cs typeface="Montserrat Italics"/>
                <a:sym typeface="Montserrat Italics"/>
              </a:rPr>
              <a:t>Public Health</a:t>
            </a:r>
          </a:p>
        </p:txBody>
      </p:sp>
      <p:sp>
        <p:nvSpPr>
          <p:cNvPr name="TextBox 69" id="69"/>
          <p:cNvSpPr txBox="true"/>
          <p:nvPr/>
        </p:nvSpPr>
        <p:spPr>
          <a:xfrm rot="0">
            <a:off x="432816" y="240489"/>
            <a:ext cx="8887968" cy="1143000"/>
          </a:xfrm>
          <a:prstGeom prst="rect">
            <a:avLst/>
          </a:prstGeom>
        </p:spPr>
        <p:txBody>
          <a:bodyPr anchor="t" rtlCol="false" tIns="0" lIns="0" bIns="0" rIns="0">
            <a:spAutoFit/>
          </a:bodyPr>
          <a:lstStyle/>
          <a:p>
            <a:pPr algn="ctr">
              <a:lnSpc>
                <a:spcPts val="2266"/>
              </a:lnSpc>
            </a:pPr>
            <a:r>
              <a:rPr lang="en-US" sz="1888" b="true">
                <a:solidFill>
                  <a:srgbClr val="FFFFFF"/>
                </a:solidFill>
                <a:latin typeface="Montserrat Bold"/>
                <a:ea typeface="Montserrat Bold"/>
                <a:cs typeface="Montserrat Bold"/>
                <a:sym typeface="Montserrat Bold"/>
              </a:rPr>
              <a:t>Soci</a:t>
            </a:r>
            <a:r>
              <a:rPr lang="en-US" b="true" sz="1888">
                <a:solidFill>
                  <a:srgbClr val="FFFFFF"/>
                </a:solidFill>
                <a:latin typeface="Montserrat Bold"/>
                <a:ea typeface="Montserrat Bold"/>
                <a:cs typeface="Montserrat Bold"/>
                <a:sym typeface="Montserrat Bold"/>
              </a:rPr>
              <a:t>al Media Usage and Student Well-Being: ​</a:t>
            </a:r>
          </a:p>
          <a:p>
            <a:pPr algn="ctr">
              <a:lnSpc>
                <a:spcPts val="2266"/>
              </a:lnSpc>
            </a:pPr>
            <a:r>
              <a:rPr lang="en-US" b="true" sz="1888">
                <a:solidFill>
                  <a:srgbClr val="FFFFFF"/>
                </a:solidFill>
                <a:latin typeface="Montserrat Bold"/>
                <a:ea typeface="Montserrat Bold"/>
                <a:cs typeface="Montserrat Bold"/>
                <a:sym typeface="Montserrat Bold"/>
              </a:rPr>
              <a:t>Associations With Sleep, Conflict, and Relationship Status​</a:t>
            </a:r>
          </a:p>
          <a:p>
            <a:pPr algn="ctr">
              <a:lnSpc>
                <a:spcPts val="2266"/>
              </a:lnSpc>
            </a:pPr>
          </a:p>
          <a:p>
            <a:pPr algn="ctr">
              <a:lnSpc>
                <a:spcPts val="2266"/>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DAG7UwdVq8Q</dc:identifier>
  <dcterms:modified xsi:type="dcterms:W3CDTF">2011-08-01T06:04:30Z</dcterms:modified>
  <cp:revision>1</cp:revision>
  <dc:title>Python possible.pptx</dc:title>
</cp:coreProperties>
</file>